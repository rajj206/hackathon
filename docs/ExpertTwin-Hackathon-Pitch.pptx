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778240" y="-1005840"/>
            <a:ext cx="4846320" cy="4846320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784080" y="3200400"/>
            <a:ext cx="2560320" cy="2560320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58368" y="530352"/>
            <a:ext cx="3657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1">
                <a:solidFill>
                  <a:srgbClr val="65B5F6"/>
                </a:solidFill>
                <a:latin typeface="Aptos"/>
              </a:rPr>
              <a:t>EXPERTTWIN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34440"/>
            <a:ext cx="7863840" cy="12344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4000" b="1">
                <a:solidFill>
                  <a:srgbClr val="FFFFFF"/>
                </a:solidFill>
                <a:latin typeface="Aptos"/>
              </a:rPr>
              <a:t>Preserve how experts decide.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2578608"/>
            <a:ext cx="7132320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200" b="0">
                <a:solidFill>
                  <a:srgbClr val="D6E9F8"/>
                </a:solidFill>
                <a:latin typeface="Aptos"/>
              </a:rPr>
              <a:t>An evidence-grounded AI Digital Employee for engineering judgment, mentoring, and institutional memory.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85800" y="3977639"/>
            <a:ext cx="1325880" cy="347472"/>
          </a:xfrm>
          <a:prstGeom prst="roundRect">
            <a:avLst/>
          </a:prstGeom>
          <a:solidFill>
            <a:srgbClr val="292C63"/>
          </a:solidFill>
          <a:ln w="15240">
            <a:solidFill>
              <a:srgbClr val="C9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58952" y="3995927"/>
            <a:ext cx="1179576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C9C8FF"/>
                </a:solidFill>
                <a:latin typeface="Aptos"/>
              </a:rPr>
              <a:t>AI CLONES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148840" y="3977639"/>
            <a:ext cx="1645920" cy="347472"/>
          </a:xfrm>
          <a:prstGeom prst="roundRect">
            <a:avLst/>
          </a:prstGeom>
          <a:solidFill>
            <a:srgbClr val="113E5D"/>
          </a:solidFill>
          <a:ln w="15240">
            <a:solidFill>
              <a:srgbClr val="8CD9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221992" y="3995927"/>
            <a:ext cx="1499616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8CD9FF"/>
                </a:solidFill>
                <a:latin typeface="Aptos"/>
              </a:rPr>
              <a:t>CITED DECISIONS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931920" y="3977639"/>
            <a:ext cx="1371600" cy="347472"/>
          </a:xfrm>
          <a:prstGeom prst="roundRect">
            <a:avLst/>
          </a:prstGeom>
          <a:solidFill>
            <a:srgbClr val="104941"/>
          </a:solidFill>
          <a:ln w="15240">
            <a:solidFill>
              <a:srgbClr val="8DE1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005072" y="3995927"/>
            <a:ext cx="1225296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8DE1D6"/>
                </a:solidFill>
                <a:latin typeface="Aptos"/>
              </a:rPr>
              <a:t>WAR ROOM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" y="5989320"/>
            <a:ext cx="45720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300" b="0">
                <a:solidFill>
                  <a:srgbClr val="A7BED3"/>
                </a:solidFill>
                <a:latin typeface="Aptos"/>
              </a:rPr>
              <a:t>Azure-powered hackathon prototype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Aptos"/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"/>
              </a:rPr>
              <a:t>Organizations preserve documents—but lose judgment.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AI makes knowledge easier to find, yet the reasoning behind decisions remains fragmented or disappears.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20240"/>
            <a:ext cx="35204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121408"/>
            <a:ext cx="5943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400" b="1">
                <a:solidFill>
                  <a:srgbClr val="0078D4"/>
                </a:solidFill>
                <a:latin typeface="Aptos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2697480"/>
            <a:ext cx="292608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900" b="1">
                <a:solidFill>
                  <a:srgbClr val="0B1F3A"/>
                </a:solidFill>
                <a:latin typeface="Aptos"/>
              </a:rPr>
              <a:t>WHAT survives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3127248"/>
            <a:ext cx="297180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Designs, meeting notes, tickets, ADRs, incident reports.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89120" y="1920240"/>
            <a:ext cx="35204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5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17720" y="2121408"/>
            <a:ext cx="5943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400" b="1">
                <a:solidFill>
                  <a:srgbClr val="5B5BD6"/>
                </a:solidFill>
                <a:latin typeface="Aptos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17720" y="2697480"/>
            <a:ext cx="292608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900" b="1">
                <a:solidFill>
                  <a:srgbClr val="0B1F3A"/>
                </a:solidFill>
                <a:latin typeface="Aptos"/>
              </a:rPr>
              <a:t>WHY gets lost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17720" y="3127248"/>
            <a:ext cx="297180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Trade-offs, rejected options, risk appetite, and situational context.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59" y="1920240"/>
            <a:ext cx="3520440" cy="20574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66759" y="2121408"/>
            <a:ext cx="59436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400" b="1">
                <a:solidFill>
                  <a:srgbClr val="D64550"/>
                </a:solidFill>
                <a:latin typeface="Aptos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66759" y="2697480"/>
            <a:ext cx="292608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900" b="1">
                <a:solidFill>
                  <a:srgbClr val="0B1F3A"/>
                </a:solidFill>
                <a:latin typeface="Aptos"/>
              </a:rPr>
              <a:t>EXPERTISE walks out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66759" y="3127248"/>
            <a:ext cx="2971800" cy="6400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Onboarding restarts and teams repeat old debates when experts move on.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4343400"/>
            <a:ext cx="10972800" cy="1325880"/>
          </a:xfrm>
          <a:prstGeom prst="round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05840" y="4526280"/>
            <a:ext cx="1024128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“A search tool can retrieve the decision. ExpertTwin reconstructs the decision-making pattern.”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5230368"/>
            <a:ext cx="841248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B9D8F4"/>
                </a:solidFill>
                <a:latin typeface="Aptos"/>
              </a:rPr>
              <a:t>The opportunity: turn institutional history into available, attributable guidance.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4114800" cy="1645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00" b="1">
                <a:solidFill>
                  <a:srgbClr val="5E6B82"/>
                </a:solidFill>
                <a:latin typeface="Aptos"/>
              </a:rPr>
              <a:t>EXPERTTWIN · HACKATHON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r"/>
            <a:r>
              <a:rPr sz="900" b="1">
                <a:solidFill>
                  <a:srgbClr val="5E6B82"/>
                </a:solidFill>
                <a:latin typeface="Aptos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Aptos"/>
              </a:rPr>
              <a:t>THE SOLUTION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"/>
              </a:rPr>
              <a:t>From scattered evidence to an Engineering Decision Fingerprint.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ExpertTwin creates a trusted digital representation of how an expert approaches engineering problems.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30352" y="1965960"/>
            <a:ext cx="2606040" cy="2423160"/>
          </a:xfrm>
          <a:prstGeom prst="roundRect">
            <a:avLst/>
          </a:prstGeom>
          <a:solidFill>
            <a:srgbClr val="F8FAFE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694944" y="2176272"/>
            <a:ext cx="475488" cy="47548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94944" y="2176272"/>
            <a:ext cx="475488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761488"/>
            <a:ext cx="21945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100" b="1">
                <a:solidFill>
                  <a:srgbClr val="0B1F3A"/>
                </a:solidFill>
                <a:latin typeface="Aptos"/>
              </a:rPr>
              <a:t>Capture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3246120"/>
            <a:ext cx="214884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Documents, reviews, chats, transcripts, incidents, outcomes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3136392" y="3172968"/>
            <a:ext cx="320040" cy="0"/>
          </a:xfrm>
          <a:prstGeom prst="line">
            <a:avLst/>
          </a:prstGeom>
          <a:ln w="25400">
            <a:solidFill>
              <a:srgbClr val="C8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3410712" y="1965960"/>
            <a:ext cx="2606040" cy="2423160"/>
          </a:xfrm>
          <a:prstGeom prst="roundRect">
            <a:avLst/>
          </a:prstGeom>
          <a:solidFill>
            <a:srgbClr val="F8FAFE"/>
          </a:solidFill>
          <a:ln w="15240">
            <a:solidFill>
              <a:srgbClr val="0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575304" y="2176272"/>
            <a:ext cx="475488" cy="475488"/>
          </a:xfrm>
          <a:prstGeom prst="ellipse">
            <a:avLst/>
          </a:prstGeom>
          <a:solidFill>
            <a:srgbClr val="0F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75304" y="2176272"/>
            <a:ext cx="475488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93592" y="2761488"/>
            <a:ext cx="21945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100" b="1">
                <a:solidFill>
                  <a:srgbClr val="0B1F3A"/>
                </a:solidFill>
                <a:latin typeface="Aptos"/>
              </a:rPr>
              <a:t>Structure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93592" y="3246120"/>
            <a:ext cx="214884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Extract choices, alternatives, rationale, constraints, risks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016752" y="3172968"/>
            <a:ext cx="320040" cy="0"/>
          </a:xfrm>
          <a:prstGeom prst="line">
            <a:avLst/>
          </a:prstGeom>
          <a:ln w="25400">
            <a:solidFill>
              <a:srgbClr val="C8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291072" y="1965960"/>
            <a:ext cx="2606040" cy="2423160"/>
          </a:xfrm>
          <a:prstGeom prst="roundRect">
            <a:avLst/>
          </a:prstGeom>
          <a:solidFill>
            <a:srgbClr val="F8FAFE"/>
          </a:solidFill>
          <a:ln w="15240">
            <a:solidFill>
              <a:srgbClr val="5B5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455664" y="2176272"/>
            <a:ext cx="475488" cy="475488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55664" y="2176272"/>
            <a:ext cx="475488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73952" y="2761488"/>
            <a:ext cx="21945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100" b="1">
                <a:solidFill>
                  <a:srgbClr val="0B1F3A"/>
                </a:solidFill>
                <a:latin typeface="Aptos"/>
              </a:rPr>
              <a:t>Fingerprint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73952" y="3246120"/>
            <a:ext cx="214884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Find recurring trade-offs, safeguards, and decision criteria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8897112" y="3172968"/>
            <a:ext cx="320040" cy="0"/>
          </a:xfrm>
          <a:prstGeom prst="line">
            <a:avLst/>
          </a:prstGeom>
          <a:ln w="25400">
            <a:solidFill>
              <a:srgbClr val="C8D5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9171432" y="1965960"/>
            <a:ext cx="2606040" cy="2423160"/>
          </a:xfrm>
          <a:prstGeom prst="roundRect">
            <a:avLst/>
          </a:prstGeom>
          <a:solidFill>
            <a:srgbClr val="F8FAFE"/>
          </a:solidFill>
          <a:ln w="15240">
            <a:solidFill>
              <a:srgbClr val="F4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9336024" y="2176272"/>
            <a:ext cx="475488" cy="475488"/>
          </a:xfrm>
          <a:prstGeom prst="ellipse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36024" y="2176272"/>
            <a:ext cx="475488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5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54311" y="2761488"/>
            <a:ext cx="2194560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100" b="1">
                <a:solidFill>
                  <a:srgbClr val="0B1F3A"/>
                </a:solidFill>
                <a:latin typeface="Aptos"/>
              </a:rPr>
              <a:t>Advise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54311" y="3246120"/>
            <a:ext cx="2148840" cy="786384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Answer as one AI Clone or convene the engineering War Room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892040"/>
            <a:ext cx="146304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Aptos"/>
              </a:rPr>
              <a:t>CORE PROMISE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5800" y="5230368"/>
            <a:ext cx="10789920" cy="7772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500" b="1">
                <a:solidFill>
                  <a:srgbClr val="0B1F3A"/>
                </a:solidFill>
                <a:latin typeface="Aptos"/>
              </a:rPr>
              <a:t>Guidance aligned to demonstrated engineering judgment—grounded in evidence, transparent about inference, and explicit about uncertainty.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6519672"/>
            <a:ext cx="4114800" cy="1645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00" b="1">
                <a:solidFill>
                  <a:srgbClr val="5E6B82"/>
                </a:solidFill>
                <a:latin typeface="Aptos"/>
              </a:rPr>
              <a:t>EXPERTTWIN · HACKATHON DEMO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r"/>
            <a:r>
              <a:rPr sz="900" b="1">
                <a:solidFill>
                  <a:srgbClr val="5E6B82"/>
                </a:solidFill>
                <a:latin typeface="Aptos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xpertTwin-Data-Ingestion-Fl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Aptos"/>
              </a:rPr>
              <a:t>EVIDENCE MODEL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"/>
              </a:rPr>
              <a:t>A body of work becomes attributable decision intelligence.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The system preserves provenance instead of flattening every source into anonymous text chunks.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74519"/>
            <a:ext cx="219456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Aptos"/>
              </a:rPr>
              <a:t>ENTERPRISE SIGNALS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2267712"/>
            <a:ext cx="23317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41248" y="2304288"/>
            <a:ext cx="192024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300" b="1">
                <a:solidFill>
                  <a:srgbClr val="17233C"/>
                </a:solidFill>
                <a:latin typeface="Aptos"/>
              </a:rPr>
              <a:t>Design reviews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880360"/>
            <a:ext cx="23317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916936"/>
            <a:ext cx="192024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300" b="1">
                <a:solidFill>
                  <a:srgbClr val="17233C"/>
                </a:solidFill>
                <a:latin typeface="Aptos"/>
              </a:rPr>
              <a:t>Meeting turns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3493008"/>
            <a:ext cx="23317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3529584"/>
            <a:ext cx="192024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300" b="1">
                <a:solidFill>
                  <a:srgbClr val="17233C"/>
                </a:solidFill>
                <a:latin typeface="Aptos"/>
              </a:rPr>
              <a:t>Engineering chat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4105656"/>
            <a:ext cx="23317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41248" y="4142232"/>
            <a:ext cx="192024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300" b="1">
                <a:solidFill>
                  <a:srgbClr val="17233C"/>
                </a:solidFill>
                <a:latin typeface="Aptos"/>
              </a:rPr>
              <a:t>Incidents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" y="4718304"/>
            <a:ext cx="2331720" cy="457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1248" y="4754880"/>
            <a:ext cx="1920240" cy="34747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300" b="1">
                <a:solidFill>
                  <a:srgbClr val="17233C"/>
                </a:solidFill>
                <a:latin typeface="Aptos"/>
              </a:rPr>
              <a:t>ADRs + outcomes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0" y="1874519"/>
            <a:ext cx="292608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0F9D8B"/>
                </a:solidFill>
                <a:latin typeface="Aptos"/>
              </a:rPr>
              <a:t>STRUCTURED DECISION RECORD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611880" y="2267712"/>
            <a:ext cx="3749039" cy="2944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3913632" y="2487168"/>
            <a:ext cx="3154680" cy="242316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7233C"/>
                </a:solidFill>
                <a:latin typeface="Aptos"/>
              </a:defRPr>
            </a:pPr>
            <a:r>
              <a:t>•  Expert + role + timestamp</a:t>
            </a:r>
          </a:p>
          <a:p>
            <a:pPr>
              <a:spcAft>
                <a:spcPts val="1000"/>
              </a:spcAft>
              <a:defRPr sz="1500">
                <a:solidFill>
                  <a:srgbClr val="17233C"/>
                </a:solidFill>
                <a:latin typeface="Aptos"/>
              </a:defRPr>
            </a:pPr>
            <a:r>
              <a:t>•  Choice and alternatives</a:t>
            </a:r>
          </a:p>
          <a:p>
            <a:pPr>
              <a:spcAft>
                <a:spcPts val="1000"/>
              </a:spcAft>
              <a:defRPr sz="1500">
                <a:solidFill>
                  <a:srgbClr val="17233C"/>
                </a:solidFill>
                <a:latin typeface="Aptos"/>
              </a:defRPr>
            </a:pPr>
            <a:r>
              <a:t>•  Rationale and constraints</a:t>
            </a:r>
          </a:p>
          <a:p>
            <a:pPr>
              <a:spcAft>
                <a:spcPts val="1000"/>
              </a:spcAft>
              <a:defRPr sz="1500">
                <a:solidFill>
                  <a:srgbClr val="17233C"/>
                </a:solidFill>
                <a:latin typeface="Aptos"/>
              </a:defRPr>
            </a:pPr>
            <a:r>
              <a:t>•  Risks and observed outcome</a:t>
            </a:r>
          </a:p>
          <a:p>
            <a:pPr>
              <a:spcAft>
                <a:spcPts val="1000"/>
              </a:spcAft>
              <a:defRPr sz="1500">
                <a:solidFill>
                  <a:srgbClr val="17233C"/>
                </a:solidFill>
                <a:latin typeface="Aptos"/>
              </a:defRPr>
            </a:pPr>
            <a:r>
              <a:t>•  Source, segment, thread, confidence</a:t>
            </a:r>
          </a:p>
          <a:p>
            <a:pPr>
              <a:spcAft>
                <a:spcPts val="1000"/>
              </a:spcAft>
              <a:defRPr sz="1500">
                <a:solidFill>
                  <a:srgbClr val="17233C"/>
                </a:solidFill>
                <a:latin typeface="Aptos"/>
              </a:defRPr>
            </a:pPr>
            <a:r>
              <a:t>•  Simulation and attribution status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028431" y="1874519"/>
            <a:ext cx="274320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5B5BD6"/>
                </a:solidFill>
                <a:latin typeface="Aptos"/>
              </a:rPr>
              <a:t>DECISION FINGERPRINT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2267712"/>
            <a:ext cx="3566160" cy="2944368"/>
          </a:xfrm>
          <a:prstGeom prst="roundRect">
            <a:avLst/>
          </a:prstGeom>
          <a:solidFill>
            <a:srgbClr val="F5F1FF"/>
          </a:solidFill>
          <a:ln w="15240">
            <a:solidFill>
              <a:srgbClr val="5B5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75320" y="2468880"/>
            <a:ext cx="150876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Trade-off style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710928" y="2468880"/>
            <a:ext cx="1481328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00" b="0">
                <a:solidFill>
                  <a:srgbClr val="5E6B82"/>
                </a:solidFill>
                <a:latin typeface="Aptos"/>
              </a:rPr>
              <a:t>What gets optimized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75320" y="2953512"/>
            <a:ext cx="150876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Risk posture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710928" y="2953512"/>
            <a:ext cx="1481328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00" b="0">
                <a:solidFill>
                  <a:srgbClr val="5E6B82"/>
                </a:solidFill>
                <a:latin typeface="Aptos"/>
              </a:rPr>
              <a:t>What must be protected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75320" y="3438144"/>
            <a:ext cx="150876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Selection criteria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710928" y="3438144"/>
            <a:ext cx="1481328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00" b="0">
                <a:solidFill>
                  <a:srgbClr val="5E6B82"/>
                </a:solidFill>
                <a:latin typeface="Aptos"/>
              </a:rPr>
              <a:t>How technologies are compared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275320" y="3922776"/>
            <a:ext cx="150876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Recovery strategy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10928" y="3922776"/>
            <a:ext cx="1481328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00" b="0">
                <a:solidFill>
                  <a:srgbClr val="5E6B82"/>
                </a:solidFill>
                <a:latin typeface="Aptos"/>
              </a:rPr>
              <a:t>How failure is handled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75320" y="4407408"/>
            <a:ext cx="150876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1">
                <a:solidFill>
                  <a:srgbClr val="0B1F3A"/>
                </a:solidFill>
                <a:latin typeface="Aptos"/>
              </a:rPr>
              <a:t>Operating principles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710928" y="4407408"/>
            <a:ext cx="1481328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00" b="0">
                <a:solidFill>
                  <a:srgbClr val="5E6B82"/>
                </a:solidFill>
                <a:latin typeface="Aptos"/>
              </a:rPr>
              <a:t>What production readiness means</a:t>
            </a:r>
          </a:p>
        </p:txBody>
      </p:sp>
      <p:cxnSp>
        <p:nvCxnSpPr>
          <p:cNvPr id="31" name="Connector 30"/>
          <p:cNvCxnSpPr/>
          <p:nvPr/>
        </p:nvCxnSpPr>
        <p:spPr>
          <a:xfrm>
            <a:off x="3017520" y="3657600"/>
            <a:ext cx="502920" cy="0"/>
          </a:xfrm>
          <a:prstGeom prst="line">
            <a:avLst/>
          </a:prstGeom>
          <a:ln w="38100">
            <a:solidFill>
              <a:srgbClr val="0078D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>
            <a:off x="7406640" y="3657600"/>
            <a:ext cx="502920" cy="0"/>
          </a:xfrm>
          <a:prstGeom prst="line">
            <a:avLst/>
          </a:prstGeom>
          <a:ln w="38100">
            <a:solidFill>
              <a:srgbClr val="5B5BD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594360" y="6519672"/>
            <a:ext cx="4114800" cy="1645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00" b="1">
                <a:solidFill>
                  <a:srgbClr val="5E6B82"/>
                </a:solidFill>
                <a:latin typeface="Aptos"/>
              </a:rPr>
              <a:t>EXPERTTWIN · HACKATHON DEMO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r"/>
            <a:r>
              <a:rPr sz="900" b="1">
                <a:solidFill>
                  <a:srgbClr val="5E6B82"/>
                </a:solidFill>
                <a:latin typeface="Aptos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ExpertTwin-Azure-Architectu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782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Aptos"/>
              </a:rPr>
              <a:t>EXPERIENCE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"/>
              </a:rPr>
              <a:t>Ask one expert’s AI Clone.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Answers reflect retrieved decision evidence—not a generic persona or an invented preference.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3657600" cy="3611880"/>
          </a:xfrm>
          <a:prstGeom prst="round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60120" y="2103120"/>
            <a:ext cx="731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65B5F6"/>
                </a:solidFill>
                <a:latin typeface="Aptos"/>
              </a:rPr>
              <a:t>ASK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2514600"/>
            <a:ext cx="2971800" cy="11430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400" b="1">
                <a:solidFill>
                  <a:srgbClr val="FFFFFF"/>
                </a:solidFill>
                <a:latin typeface="Aptos"/>
              </a:rPr>
              <a:t>“How should we recover from partial audit-pipeline failure without losing or duplicating data?”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60120" y="4160520"/>
            <a:ext cx="2697480" cy="347472"/>
          </a:xfrm>
          <a:prstGeom prst="roundRect">
            <a:avLst/>
          </a:prstGeom>
          <a:solidFill>
            <a:srgbClr val="292C63"/>
          </a:solidFill>
          <a:ln w="15240">
            <a:solidFill>
              <a:srgbClr val="C9C8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33272" y="4178807"/>
            <a:ext cx="2551176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C9C8FF"/>
                </a:solidFill>
                <a:latin typeface="Aptos"/>
              </a:rPr>
              <a:t>Selected: Rajendra Kalepu (AI Clone)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617720" y="1828800"/>
            <a:ext cx="6931152" cy="36118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937760" y="2057400"/>
            <a:ext cx="25603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0F9D8B"/>
                </a:solidFill>
                <a:latin typeface="Aptos"/>
              </a:rPr>
              <a:t>EVIDENCE-BACKED ANSWER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937760" y="2514600"/>
            <a:ext cx="6172200" cy="10515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Use deterministic checkpoints, explicit quarantine, and batch-level reconciliation. Treat pipeline completion as insufficient unless contract validity, freshness, uniqueness, and accepted-versus-rejected counts are observable.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937760" y="3931920"/>
            <a:ext cx="1965960" cy="347472"/>
          </a:xfrm>
          <a:prstGeom prst="roundRect">
            <a:avLst/>
          </a:prstGeom>
          <a:solidFill>
            <a:srgbClr val="E8F8F5"/>
          </a:solidFill>
          <a:ln w="15240">
            <a:solidFill>
              <a:srgbClr val="0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010912" y="3950207"/>
            <a:ext cx="1819656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0F9D8B"/>
                </a:solidFill>
                <a:latin typeface="Aptos"/>
              </a:rPr>
              <a:t>4 expert-attributed citations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086600" y="3931920"/>
            <a:ext cx="1417320" cy="347472"/>
          </a:xfrm>
          <a:prstGeom prst="roundRect">
            <a:avLst/>
          </a:prstGeom>
          <a:solidFill>
            <a:srgbClr val="F0EFFF"/>
          </a:solidFill>
          <a:ln w="15240">
            <a:solidFill>
              <a:srgbClr val="5B5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159752" y="3950207"/>
            <a:ext cx="1271016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5B5BD6"/>
                </a:solidFill>
                <a:latin typeface="Aptos"/>
              </a:rPr>
              <a:t>Inference labeled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686800" y="3931920"/>
            <a:ext cx="1600200" cy="34747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4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759952" y="3950207"/>
            <a:ext cx="1453896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4A623"/>
                </a:solidFill>
                <a:latin typeface="Aptos"/>
              </a:rPr>
              <a:t>Uncertainty explicit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956048" y="4645152"/>
            <a:ext cx="608076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Trust behavior: when the evidence does not establish a preference, ExpertTwin says so instead of attributing a fabricated opinion.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4114800" cy="1645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00" b="1">
                <a:solidFill>
                  <a:srgbClr val="5E6B82"/>
                </a:solidFill>
                <a:latin typeface="Aptos"/>
              </a:rPr>
              <a:t>EXPERTTWIN · HACKATHON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r"/>
            <a:r>
              <a:rPr sz="900" b="1">
                <a:solidFill>
                  <a:srgbClr val="5E6B82"/>
                </a:solidFill>
                <a:latin typeface="Aptos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Aptos"/>
              </a:rPr>
              <a:t>EXPERIENCE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"/>
              </a:rPr>
              <a:t>Convene the Engineering War Room.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Eleven AI Clones discuss one decision, challenge assumptions, and converge on an accountable recommendation.</a:t>
            </a:r>
          </a:p>
        </p:txBody>
      </p:sp>
      <p:sp>
        <p:nvSpPr>
          <p:cNvPr id="5" name="Oval 4"/>
          <p:cNvSpPr/>
          <p:nvPr/>
        </p:nvSpPr>
        <p:spPr>
          <a:xfrm>
            <a:off x="658368" y="2057400"/>
            <a:ext cx="566928" cy="566928"/>
          </a:xfrm>
          <a:prstGeom prst="ellipse">
            <a:avLst/>
          </a:prstGeom>
          <a:solidFill>
            <a:srgbClr val="5B5B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58368" y="2057400"/>
            <a:ext cx="566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HM</a:t>
            </a:r>
          </a:p>
        </p:txBody>
      </p:sp>
      <p:sp>
        <p:nvSpPr>
          <p:cNvPr id="7" name="Oval 6"/>
          <p:cNvSpPr/>
          <p:nvPr/>
        </p:nvSpPr>
        <p:spPr>
          <a:xfrm>
            <a:off x="1572768" y="2057400"/>
            <a:ext cx="566928" cy="566928"/>
          </a:xfrm>
          <a:prstGeom prst="ellipse">
            <a:avLst/>
          </a:prstGeom>
          <a:solidFill>
            <a:srgbClr val="D645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572768" y="2057400"/>
            <a:ext cx="566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AS</a:t>
            </a:r>
          </a:p>
        </p:txBody>
      </p:sp>
      <p:sp>
        <p:nvSpPr>
          <p:cNvPr id="9" name="Oval 8"/>
          <p:cNvSpPr/>
          <p:nvPr/>
        </p:nvSpPr>
        <p:spPr>
          <a:xfrm>
            <a:off x="2487168" y="2057400"/>
            <a:ext cx="566928" cy="566928"/>
          </a:xfrm>
          <a:prstGeom prst="ellipse">
            <a:avLst/>
          </a:prstGeom>
          <a:solidFill>
            <a:srgbClr val="F4A62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487168" y="2057400"/>
            <a:ext cx="566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DS</a:t>
            </a:r>
          </a:p>
        </p:txBody>
      </p:sp>
      <p:sp>
        <p:nvSpPr>
          <p:cNvPr id="11" name="Oval 10"/>
          <p:cNvSpPr/>
          <p:nvPr/>
        </p:nvSpPr>
        <p:spPr>
          <a:xfrm>
            <a:off x="3401568" y="2057400"/>
            <a:ext cx="566928" cy="566928"/>
          </a:xfrm>
          <a:prstGeom prst="ellipse">
            <a:avLst/>
          </a:prstGeom>
          <a:solidFill>
            <a:srgbClr val="0F9D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2057400"/>
            <a:ext cx="566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KR</a:t>
            </a:r>
          </a:p>
        </p:txBody>
      </p:sp>
      <p:sp>
        <p:nvSpPr>
          <p:cNvPr id="13" name="Oval 12"/>
          <p:cNvSpPr/>
          <p:nvPr/>
        </p:nvSpPr>
        <p:spPr>
          <a:xfrm>
            <a:off x="4315968" y="2057400"/>
            <a:ext cx="566928" cy="566928"/>
          </a:xfrm>
          <a:prstGeom prst="ellipse">
            <a:avLst/>
          </a:prstGeom>
          <a:solidFill>
            <a:srgbClr val="0078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315968" y="2057400"/>
            <a:ext cx="566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MP</a:t>
            </a:r>
          </a:p>
        </p:txBody>
      </p:sp>
      <p:sp>
        <p:nvSpPr>
          <p:cNvPr id="15" name="Oval 14"/>
          <p:cNvSpPr/>
          <p:nvPr/>
        </p:nvSpPr>
        <p:spPr>
          <a:xfrm>
            <a:off x="5230368" y="2057400"/>
            <a:ext cx="566928" cy="566928"/>
          </a:xfrm>
          <a:prstGeom prst="ellipse">
            <a:avLst/>
          </a:prstGeom>
          <a:solidFill>
            <a:srgbClr val="28A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230368" y="2057400"/>
            <a:ext cx="566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NL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2880360"/>
            <a:ext cx="566928" cy="566928"/>
          </a:xfrm>
          <a:prstGeom prst="ellipse">
            <a:avLst/>
          </a:prstGeom>
          <a:solidFill>
            <a:srgbClr val="6F52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2880360"/>
            <a:ext cx="566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RK</a:t>
            </a:r>
          </a:p>
        </p:txBody>
      </p:sp>
      <p:sp>
        <p:nvSpPr>
          <p:cNvPr id="19" name="Oval 18"/>
          <p:cNvSpPr/>
          <p:nvPr/>
        </p:nvSpPr>
        <p:spPr>
          <a:xfrm>
            <a:off x="1572768" y="2880360"/>
            <a:ext cx="566928" cy="566928"/>
          </a:xfrm>
          <a:prstGeom prst="ellipse">
            <a:avLst/>
          </a:prstGeom>
          <a:solidFill>
            <a:srgbClr val="C43B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572768" y="2880360"/>
            <a:ext cx="566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SS</a:t>
            </a:r>
          </a:p>
        </p:txBody>
      </p:sp>
      <p:sp>
        <p:nvSpPr>
          <p:cNvPr id="21" name="Oval 20"/>
          <p:cNvSpPr/>
          <p:nvPr/>
        </p:nvSpPr>
        <p:spPr>
          <a:xfrm>
            <a:off x="2487168" y="2880360"/>
            <a:ext cx="566928" cy="566928"/>
          </a:xfrm>
          <a:prstGeom prst="ellipse">
            <a:avLst/>
          </a:prstGeom>
          <a:solidFill>
            <a:srgbClr val="2FBF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2487168" y="2880360"/>
            <a:ext cx="566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SY</a:t>
            </a:r>
          </a:p>
        </p:txBody>
      </p:sp>
      <p:sp>
        <p:nvSpPr>
          <p:cNvPr id="23" name="Oval 22"/>
          <p:cNvSpPr/>
          <p:nvPr/>
        </p:nvSpPr>
        <p:spPr>
          <a:xfrm>
            <a:off x="3401568" y="2880360"/>
            <a:ext cx="566928" cy="566928"/>
          </a:xfrm>
          <a:prstGeom prst="ellipse">
            <a:avLst/>
          </a:prstGeom>
          <a:solidFill>
            <a:srgbClr val="9870D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01568" y="2880360"/>
            <a:ext cx="566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TU</a:t>
            </a:r>
          </a:p>
        </p:txBody>
      </p:sp>
      <p:sp>
        <p:nvSpPr>
          <p:cNvPr id="25" name="Oval 24"/>
          <p:cNvSpPr/>
          <p:nvPr/>
        </p:nvSpPr>
        <p:spPr>
          <a:xfrm>
            <a:off x="4315968" y="2880360"/>
            <a:ext cx="566928" cy="566928"/>
          </a:xfrm>
          <a:prstGeom prst="ellipse">
            <a:avLst/>
          </a:prstGeom>
          <a:solidFill>
            <a:srgbClr val="1D6F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315968" y="2880360"/>
            <a:ext cx="566928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ptos"/>
              </a:rPr>
              <a:t>VS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749039"/>
            <a:ext cx="530352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800" b="1">
                <a:solidFill>
                  <a:srgbClr val="0B1F3A"/>
                </a:solidFill>
                <a:latin typeface="Aptos"/>
              </a:rPr>
              <a:t>11 authorized AI Clones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160520"/>
            <a:ext cx="5303520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500">
                <a:solidFill>
                  <a:srgbClr val="17233C"/>
                </a:solidFill>
                <a:latin typeface="Aptos"/>
              </a:defRPr>
            </a:pPr>
            <a:r>
              <a:t>•  Hrishikesh frames and owns the final decision</a:t>
            </a:r>
          </a:p>
          <a:p>
            <a:pPr>
              <a:spcAft>
                <a:spcPts val="1000"/>
              </a:spcAft>
              <a:defRPr sz="1500">
                <a:solidFill>
                  <a:srgbClr val="17233C"/>
                </a:solidFill>
                <a:latin typeface="Aptos"/>
              </a:defRPr>
            </a:pPr>
            <a:r>
              <a:t>•  Participants challenge and refine one another</a:t>
            </a:r>
          </a:p>
          <a:p>
            <a:pPr>
              <a:spcAft>
                <a:spcPts val="1000"/>
              </a:spcAft>
              <a:defRPr sz="1500">
                <a:solidFill>
                  <a:srgbClr val="17233C"/>
                </a:solidFill>
                <a:latin typeface="Aptos"/>
              </a:defRPr>
            </a:pPr>
            <a:r>
              <a:t>•  Every claim is bounded to retrieved evidence</a:t>
            </a:r>
          </a:p>
          <a:p>
            <a:pPr>
              <a:spcAft>
                <a:spcPts val="1000"/>
              </a:spcAft>
              <a:defRPr sz="1500">
                <a:solidFill>
                  <a:srgbClr val="17233C"/>
                </a:solidFill>
                <a:latin typeface="Aptos"/>
              </a:defRPr>
            </a:pPr>
            <a:r>
              <a:t>•  Dissent, risks, mitigations, and actions are preserved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263640" y="1828800"/>
            <a:ext cx="5257800" cy="4069080"/>
          </a:xfrm>
          <a:prstGeom prst="roundRect">
            <a:avLst/>
          </a:prstGeom>
          <a:solidFill>
            <a:srgbClr val="F5F1FF"/>
          </a:solidFill>
          <a:ln w="15240">
            <a:solidFill>
              <a:srgbClr val="5B5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2121408"/>
            <a:ext cx="301752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5B5BD6"/>
                </a:solidFill>
                <a:latin typeface="Aptos"/>
              </a:rPr>
              <a:t>MANAGER-LED FINAL DECISION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583680" y="2606040"/>
            <a:ext cx="4434840" cy="9601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300" b="1">
                <a:solidFill>
                  <a:srgbClr val="0B1F3A"/>
                </a:solidFill>
                <a:latin typeface="Aptos"/>
              </a:rPr>
              <a:t>Adopt replay-safe checkpoints, quarantine invalid events, and gate release on reconciliation evidence.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583680" y="3886200"/>
            <a:ext cx="1417320" cy="347472"/>
          </a:xfrm>
          <a:prstGeom prst="roundRect">
            <a:avLst/>
          </a:prstGeom>
          <a:solidFill>
            <a:srgbClr val="FDEEEF"/>
          </a:solidFill>
          <a:ln w="1524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656832" y="3904487"/>
            <a:ext cx="1271016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D64550"/>
                </a:solidFill>
                <a:latin typeface="Aptos"/>
              </a:rPr>
              <a:t>DISSENT RETAINED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183879" y="3886200"/>
            <a:ext cx="1874519" cy="347472"/>
          </a:xfrm>
          <a:prstGeom prst="roundRect">
            <a:avLst/>
          </a:prstGeom>
          <a:solidFill>
            <a:srgbClr val="FFF8E8"/>
          </a:solidFill>
          <a:ln w="15240">
            <a:solidFill>
              <a:srgbClr val="F4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57031" y="3904487"/>
            <a:ext cx="1728216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F4A623"/>
                </a:solidFill>
                <a:latin typeface="Aptos"/>
              </a:rPr>
              <a:t>RISKS + MITIGATIONS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10241280" y="3886200"/>
            <a:ext cx="1051560" cy="347472"/>
          </a:xfrm>
          <a:prstGeom prst="roundRect">
            <a:avLst/>
          </a:prstGeom>
          <a:solidFill>
            <a:srgbClr val="E8F8F5"/>
          </a:solidFill>
          <a:ln w="15240">
            <a:solidFill>
              <a:srgbClr val="0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10314432" y="3904487"/>
            <a:ext cx="905255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0F9D8B"/>
                </a:solidFill>
                <a:latin typeface="Aptos"/>
              </a:rPr>
              <a:t>OWNED ACTIONS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583680" y="4754880"/>
            <a:ext cx="4434840" cy="47548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600" b="1">
                <a:solidFill>
                  <a:srgbClr val="5E6B82"/>
                </a:solidFill>
                <a:latin typeface="Aptos"/>
              </a:rPr>
              <a:t>The panel behaves like a group chat; the output behaves like a review record.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94360" y="6519672"/>
            <a:ext cx="4114800" cy="1645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00" b="1">
                <a:solidFill>
                  <a:srgbClr val="5E6B82"/>
                </a:solidFill>
                <a:latin typeface="Aptos"/>
              </a:rPr>
              <a:t>EXPERTTWIN · HACKATHON DEMO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r"/>
            <a:r>
              <a:rPr sz="900" b="1">
                <a:solidFill>
                  <a:srgbClr val="5E6B82"/>
                </a:solidFill>
                <a:latin typeface="Aptos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Aptos"/>
              </a:rPr>
              <a:t>DIFFERENTIATION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"/>
              </a:rPr>
              <a:t>Beyond search, generic copilots, and static personas.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ExpertTwin combines provenance, behavior patterns, and collaborative decision simulation.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2560320" cy="594360"/>
          </a:xfrm>
          <a:prstGeom prst="round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1901952"/>
            <a:ext cx="2414015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Capability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108959" y="1828800"/>
            <a:ext cx="2560320" cy="594360"/>
          </a:xfrm>
          <a:prstGeom prst="roundRect">
            <a:avLst/>
          </a:prstGeom>
          <a:solidFill>
            <a:srgbClr val="5E6B82"/>
          </a:solidFill>
          <a:ln w="15240">
            <a:solidFill>
              <a:srgbClr val="5E6B8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182111" y="1901952"/>
            <a:ext cx="2414015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Document search / RAG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714999" y="1828800"/>
            <a:ext cx="2377440" cy="594360"/>
          </a:xfrm>
          <a:prstGeom prst="roundRect">
            <a:avLst/>
          </a:prstGeom>
          <a:solidFill>
            <a:srgbClr val="0078D4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788151" y="1901952"/>
            <a:ext cx="2231136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Generic copilot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38159" y="1828800"/>
            <a:ext cx="2880360" cy="594360"/>
          </a:xfrm>
          <a:prstGeom prst="roundRect">
            <a:avLst/>
          </a:prstGeom>
          <a:solidFill>
            <a:srgbClr val="5B5BD6"/>
          </a:solidFill>
          <a:ln w="15240">
            <a:solidFill>
              <a:srgbClr val="5B5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211311" y="1901952"/>
            <a:ext cx="2734056" cy="41148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ExpertTwin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505456"/>
            <a:ext cx="25603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2542032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Aptos"/>
              </a:rPr>
              <a:t>Find relevant content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108959" y="2505456"/>
            <a:ext cx="25603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82111" y="2542032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E6B82"/>
                </a:solidFill>
                <a:latin typeface="Aptos"/>
              </a:rPr>
              <a:t>Yes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714999" y="2505456"/>
            <a:ext cx="237744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788151" y="2542032"/>
            <a:ext cx="223113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E6B82"/>
                </a:solidFill>
                <a:latin typeface="Aptos"/>
              </a:rPr>
              <a:t>Sometimes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38159" y="2505456"/>
            <a:ext cx="288036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11311" y="2542032"/>
            <a:ext cx="273405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Yes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2999232"/>
            <a:ext cx="2560320" cy="475488"/>
          </a:xfrm>
          <a:prstGeom prst="rect">
            <a:avLst/>
          </a:prstGeom>
          <a:solidFill>
            <a:srgbClr val="F7F9FC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6072" y="3035808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Aptos"/>
              </a:rPr>
              <a:t>Explain why decisions were made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108959" y="2999232"/>
            <a:ext cx="2560320" cy="475488"/>
          </a:xfrm>
          <a:prstGeom prst="rect">
            <a:avLst/>
          </a:prstGeom>
          <a:solidFill>
            <a:srgbClr val="F7F9FC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182111" y="3035808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E6B82"/>
                </a:solidFill>
                <a:latin typeface="Aptos"/>
              </a:rPr>
              <a:t>Partial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714999" y="2999232"/>
            <a:ext cx="2377440" cy="475488"/>
          </a:xfrm>
          <a:prstGeom prst="rect">
            <a:avLst/>
          </a:prstGeom>
          <a:solidFill>
            <a:srgbClr val="F7F9FC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788151" y="3035808"/>
            <a:ext cx="223113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E6B82"/>
                </a:solidFill>
                <a:latin typeface="Aptos"/>
              </a:rPr>
              <a:t>Generic inference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138159" y="2999232"/>
            <a:ext cx="2880360" cy="475488"/>
          </a:xfrm>
          <a:prstGeom prst="rect">
            <a:avLst/>
          </a:prstGeom>
          <a:solidFill>
            <a:srgbClr val="F7F9FC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211311" y="3035808"/>
            <a:ext cx="273405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Evidence-grounded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493008"/>
            <a:ext cx="25603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6072" y="3529584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Aptos"/>
              </a:rPr>
              <a:t>Model recurring expert judgment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3108959" y="3493008"/>
            <a:ext cx="25603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3182111" y="3529584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E6B82"/>
                </a:solidFill>
                <a:latin typeface="Aptos"/>
              </a:rPr>
              <a:t>No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714999" y="3493008"/>
            <a:ext cx="237744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5788151" y="3529584"/>
            <a:ext cx="223113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E6B82"/>
                </a:solidFill>
                <a:latin typeface="Aptos"/>
              </a:rPr>
              <a:t>No</a:t>
            </a:r>
          </a:p>
        </p:txBody>
      </p:sp>
      <p:sp>
        <p:nvSpPr>
          <p:cNvPr id="35" name="Rectangle 34"/>
          <p:cNvSpPr/>
          <p:nvPr/>
        </p:nvSpPr>
        <p:spPr>
          <a:xfrm>
            <a:off x="8138159" y="3493008"/>
            <a:ext cx="288036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211311" y="3529584"/>
            <a:ext cx="273405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Decision Fingerprint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02920" y="3986784"/>
            <a:ext cx="2560320" cy="475488"/>
          </a:xfrm>
          <a:prstGeom prst="rect">
            <a:avLst/>
          </a:prstGeom>
          <a:solidFill>
            <a:srgbClr val="F7F9FC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576072" y="4023360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Aptos"/>
              </a:rPr>
              <a:t>Attribute claims to sources/people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108959" y="3986784"/>
            <a:ext cx="2560320" cy="475488"/>
          </a:xfrm>
          <a:prstGeom prst="rect">
            <a:avLst/>
          </a:prstGeom>
          <a:solidFill>
            <a:srgbClr val="F7F9FC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182111" y="4023360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E6B82"/>
                </a:solidFill>
                <a:latin typeface="Aptos"/>
              </a:rPr>
              <a:t>Source only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714999" y="3986784"/>
            <a:ext cx="2377440" cy="475488"/>
          </a:xfrm>
          <a:prstGeom prst="rect">
            <a:avLst/>
          </a:prstGeom>
          <a:solidFill>
            <a:srgbClr val="F7F9FC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788151" y="4023360"/>
            <a:ext cx="223113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E6B82"/>
                </a:solidFill>
                <a:latin typeface="Aptos"/>
              </a:rPr>
              <a:t>Often opaque</a:t>
            </a:r>
          </a:p>
        </p:txBody>
      </p:sp>
      <p:sp>
        <p:nvSpPr>
          <p:cNvPr id="43" name="Rectangle 42"/>
          <p:cNvSpPr/>
          <p:nvPr/>
        </p:nvSpPr>
        <p:spPr>
          <a:xfrm>
            <a:off x="8138159" y="3986784"/>
            <a:ext cx="2880360" cy="475488"/>
          </a:xfrm>
          <a:prstGeom prst="rect">
            <a:avLst/>
          </a:prstGeom>
          <a:solidFill>
            <a:srgbClr val="F7F9FC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11311" y="4023360"/>
            <a:ext cx="273405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Explicit provenance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4480560"/>
            <a:ext cx="25603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576072" y="4517136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Aptos"/>
              </a:rPr>
              <a:t>Handle missing evidence safely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108959" y="4480560"/>
            <a:ext cx="25603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3182111" y="4517136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E6B82"/>
                </a:solidFill>
                <a:latin typeface="Aptos"/>
              </a:rPr>
              <a:t>Returns documents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714999" y="4480560"/>
            <a:ext cx="237744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5788151" y="4517136"/>
            <a:ext cx="223113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E6B82"/>
                </a:solidFill>
                <a:latin typeface="Aptos"/>
              </a:rPr>
              <a:t>May hallucinate</a:t>
            </a:r>
          </a:p>
        </p:txBody>
      </p:sp>
      <p:sp>
        <p:nvSpPr>
          <p:cNvPr id="51" name="Rectangle 50"/>
          <p:cNvSpPr/>
          <p:nvPr/>
        </p:nvSpPr>
        <p:spPr>
          <a:xfrm>
            <a:off x="8138159" y="4480560"/>
            <a:ext cx="288036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8211311" y="4517136"/>
            <a:ext cx="273405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States uncertainty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02920" y="4974336"/>
            <a:ext cx="2560320" cy="475488"/>
          </a:xfrm>
          <a:prstGeom prst="rect">
            <a:avLst/>
          </a:prstGeom>
          <a:solidFill>
            <a:srgbClr val="F7F9FC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76072" y="5010912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Aptos"/>
              </a:rPr>
              <a:t>Simulate multi-expert deliberation</a:t>
            </a:r>
          </a:p>
        </p:txBody>
      </p:sp>
      <p:sp>
        <p:nvSpPr>
          <p:cNvPr id="55" name="Rectangle 54"/>
          <p:cNvSpPr/>
          <p:nvPr/>
        </p:nvSpPr>
        <p:spPr>
          <a:xfrm>
            <a:off x="3108959" y="4974336"/>
            <a:ext cx="2560320" cy="475488"/>
          </a:xfrm>
          <a:prstGeom prst="rect">
            <a:avLst/>
          </a:prstGeom>
          <a:solidFill>
            <a:srgbClr val="F7F9FC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3182111" y="5010912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E6B82"/>
                </a:solidFill>
                <a:latin typeface="Aptos"/>
              </a:rPr>
              <a:t>No</a:t>
            </a:r>
          </a:p>
        </p:txBody>
      </p:sp>
      <p:sp>
        <p:nvSpPr>
          <p:cNvPr id="57" name="Rectangle 56"/>
          <p:cNvSpPr/>
          <p:nvPr/>
        </p:nvSpPr>
        <p:spPr>
          <a:xfrm>
            <a:off x="5714999" y="4974336"/>
            <a:ext cx="2377440" cy="475488"/>
          </a:xfrm>
          <a:prstGeom prst="rect">
            <a:avLst/>
          </a:prstGeom>
          <a:solidFill>
            <a:srgbClr val="F7F9FC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5788151" y="5010912"/>
            <a:ext cx="223113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E6B82"/>
                </a:solidFill>
                <a:latin typeface="Aptos"/>
              </a:rPr>
              <a:t>Generic agents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8138159" y="4974336"/>
            <a:ext cx="2880360" cy="475488"/>
          </a:xfrm>
          <a:prstGeom prst="rect">
            <a:avLst/>
          </a:prstGeom>
          <a:solidFill>
            <a:srgbClr val="F7F9FC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8211311" y="5010912"/>
            <a:ext cx="273405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Trusted roster + citations</a:t>
            </a:r>
          </a:p>
        </p:txBody>
      </p:sp>
      <p:sp>
        <p:nvSpPr>
          <p:cNvPr id="61" name="Rectangle 60"/>
          <p:cNvSpPr/>
          <p:nvPr/>
        </p:nvSpPr>
        <p:spPr>
          <a:xfrm>
            <a:off x="502920" y="5468112"/>
            <a:ext cx="25603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76072" y="5504688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00" b="1">
                <a:solidFill>
                  <a:srgbClr val="0B1F3A"/>
                </a:solidFill>
                <a:latin typeface="Aptos"/>
              </a:rPr>
              <a:t>Produce accountable action plan</a:t>
            </a:r>
          </a:p>
        </p:txBody>
      </p:sp>
      <p:sp>
        <p:nvSpPr>
          <p:cNvPr id="63" name="Rectangle 62"/>
          <p:cNvSpPr/>
          <p:nvPr/>
        </p:nvSpPr>
        <p:spPr>
          <a:xfrm>
            <a:off x="3108959" y="5468112"/>
            <a:ext cx="256032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3182111" y="5504688"/>
            <a:ext cx="2414015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E6B82"/>
                </a:solidFill>
                <a:latin typeface="Aptos"/>
              </a:rPr>
              <a:t>No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714999" y="5468112"/>
            <a:ext cx="237744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788151" y="5504688"/>
            <a:ext cx="223113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0">
                <a:solidFill>
                  <a:srgbClr val="5E6B82"/>
                </a:solidFill>
                <a:latin typeface="Aptos"/>
              </a:rPr>
              <a:t>Possible</a:t>
            </a:r>
          </a:p>
        </p:txBody>
      </p:sp>
      <p:sp>
        <p:nvSpPr>
          <p:cNvPr id="67" name="Rectangle 66"/>
          <p:cNvSpPr/>
          <p:nvPr/>
        </p:nvSpPr>
        <p:spPr>
          <a:xfrm>
            <a:off x="8138159" y="5468112"/>
            <a:ext cx="2880360" cy="475488"/>
          </a:xfrm>
          <a:prstGeom prst="rect">
            <a:avLst/>
          </a:prstGeom>
          <a:solidFill>
            <a:srgbClr val="FFFFFF"/>
          </a:solidFill>
          <a:ln w="15240">
            <a:solidFill>
              <a:srgbClr val="C8D5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8211311" y="5504688"/>
            <a:ext cx="2734056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200" b="1">
                <a:solidFill>
                  <a:srgbClr val="0B1F3A"/>
                </a:solidFill>
                <a:latin typeface="Aptos"/>
              </a:rPr>
              <a:t>Owner, dissent, risk, evidence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594360" y="6519672"/>
            <a:ext cx="4114800" cy="1645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00" b="1">
                <a:solidFill>
                  <a:srgbClr val="5E6B82"/>
                </a:solidFill>
                <a:latin typeface="Aptos"/>
              </a:rPr>
              <a:t>EXPERTTWIN · HACKATHON DEMO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r"/>
            <a:r>
              <a:rPr sz="900" b="1">
                <a:solidFill>
                  <a:srgbClr val="5E6B82"/>
                </a:solidFill>
                <a:latin typeface="Aptos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1F3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Aptos"/>
              </a:rPr>
              <a:t>HACKATHON OUTCOME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A working Azure-hosted Digital Employee prototype.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B9D8F4"/>
                </a:solidFill>
                <a:latin typeface="Aptos"/>
              </a:rPr>
              <a:t>The demonstration is live, evidence-grounded, and designed around transparent trust behavior.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58368" y="1965960"/>
            <a:ext cx="2606040" cy="1508760"/>
          </a:xfrm>
          <a:prstGeom prst="roundRect">
            <a:avLst/>
          </a:prstGeom>
          <a:solidFill>
            <a:srgbClr val="142C4D"/>
          </a:solidFill>
          <a:ln w="15240">
            <a:solidFill>
              <a:srgbClr val="285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59" y="2148840"/>
            <a:ext cx="224028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3000" b="1">
                <a:solidFill>
                  <a:srgbClr val="65B5F6"/>
                </a:solidFill>
                <a:latin typeface="Aptos"/>
              </a:rPr>
              <a:t>11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59" y="2779776"/>
            <a:ext cx="224028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authorized AI Clones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511296" y="1965960"/>
            <a:ext cx="2606040" cy="1508760"/>
          </a:xfrm>
          <a:prstGeom prst="roundRect">
            <a:avLst/>
          </a:prstGeom>
          <a:solidFill>
            <a:srgbClr val="142C4D"/>
          </a:solidFill>
          <a:ln w="15240">
            <a:solidFill>
              <a:srgbClr val="285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75887" y="2148840"/>
            <a:ext cx="224028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3000" b="1">
                <a:solidFill>
                  <a:srgbClr val="65B5F6"/>
                </a:solidFill>
                <a:latin typeface="Aptos"/>
              </a:rPr>
              <a:t>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75887" y="2779776"/>
            <a:ext cx="224028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mixed evidence formats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64224" y="1965960"/>
            <a:ext cx="2606040" cy="1508760"/>
          </a:xfrm>
          <a:prstGeom prst="roundRect">
            <a:avLst/>
          </a:prstGeom>
          <a:solidFill>
            <a:srgbClr val="142C4D"/>
          </a:solidFill>
          <a:ln w="15240">
            <a:solidFill>
              <a:srgbClr val="285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28816" y="2148840"/>
            <a:ext cx="224028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3000" b="1">
                <a:solidFill>
                  <a:srgbClr val="65B5F6"/>
                </a:solidFill>
                <a:latin typeface="Aptos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28816" y="2779776"/>
            <a:ext cx="224028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manager-led War Room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217152" y="1965960"/>
            <a:ext cx="2606040" cy="1508760"/>
          </a:xfrm>
          <a:prstGeom prst="roundRect">
            <a:avLst/>
          </a:prstGeom>
          <a:solidFill>
            <a:srgbClr val="142C4D"/>
          </a:solidFill>
          <a:ln w="15240">
            <a:solidFill>
              <a:srgbClr val="28547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381744" y="2148840"/>
            <a:ext cx="2240280" cy="56692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3000" b="1">
                <a:solidFill>
                  <a:srgbClr val="65B5F6"/>
                </a:solidFill>
                <a:latin typeface="Aptos"/>
              </a:rPr>
              <a:t>0–1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81744" y="2779776"/>
            <a:ext cx="2240280" cy="310896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Aptos"/>
              </a:rPr>
              <a:t>Container App replicas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5800" y="4069080"/>
            <a:ext cx="1097280" cy="25603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65B5F6"/>
                </a:solidFill>
                <a:latin typeface="Aptos"/>
              </a:rPr>
              <a:t>DELIVERED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5800" y="4407408"/>
            <a:ext cx="7315200" cy="1600200"/>
          </a:xfrm>
          <a:prstGeom prst="rect">
            <a:avLst/>
          </a:prstGeom>
          <a:noFill/>
        </p:spPr>
        <p:txBody>
          <a:bodyPr wrap="square">
            <a:normAutofit/>
          </a:bodyPr>
          <a:lstStyle/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Individual cited guidance with evidence-strength and uncertainty signals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Eleven-person War Room with challenges, dissent, risks, and owned actions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Managed-identity Azure OpenAI access—no API key in the image or infrastructure</a:t>
            </a:r>
          </a:p>
          <a:p>
            <a:pPr>
              <a:spcAft>
                <a:spcPts val="1000"/>
              </a:spcAft>
              <a:defRPr sz="1600">
                <a:solidFill>
                  <a:srgbClr val="FFFFFF"/>
                </a:solidFill>
                <a:latin typeface="Aptos"/>
              </a:defRPr>
            </a:pPr>
            <a:r>
              <a:t>•  Scale-to-zero hosting with an estimated fixed infrastructure cost of about $5/month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458200" y="4069080"/>
            <a:ext cx="3063240" cy="1627632"/>
          </a:xfrm>
          <a:prstGeom prst="roundRect">
            <a:avLst/>
          </a:prstGeom>
          <a:solidFill>
            <a:srgbClr val="0D3858"/>
          </a:solidFill>
          <a:ln w="15240">
            <a:solidFill>
              <a:srgbClr val="278E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732520" y="4315968"/>
            <a:ext cx="64008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8DE1D6"/>
                </a:solidFill>
                <a:latin typeface="Aptos"/>
              </a:rPr>
              <a:t>LIVE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732520" y="4681728"/>
            <a:ext cx="246888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900" b="1">
                <a:solidFill>
                  <a:srgbClr val="FFFFFF"/>
                </a:solidFill>
                <a:latin typeface="Aptos"/>
              </a:rPr>
              <a:t>Azure Container Apps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732520" y="5074920"/>
            <a:ext cx="242316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200" b="0">
                <a:solidFill>
                  <a:srgbClr val="B9D8F4"/>
                </a:solidFill>
                <a:latin typeface="Aptos"/>
              </a:rPr>
              <a:t>East US · public hackathon endpoint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94360" y="6519672"/>
            <a:ext cx="4114800" cy="1645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00" b="1">
                <a:solidFill>
                  <a:srgbClr val="5E6B82"/>
                </a:solidFill>
                <a:latin typeface="Aptos"/>
              </a:rPr>
              <a:t>EXPERTTWIN · HACKATHON DEMO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r"/>
            <a:r>
              <a:rPr sz="900" b="1">
                <a:solidFill>
                  <a:srgbClr val="5E6B82"/>
                </a:solidFill>
                <a:latin typeface="Aptos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Aptos"/>
              </a:rPr>
              <a:t>TRUST BY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"/>
              </a:rPr>
              <a:t>The AI Clone must know what it knows—and what it does not.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ExpertTwin is designed to avoid turning plausible language into false employee attribution.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5349240" cy="1298448"/>
          </a:xfrm>
          <a:prstGeom prst="roundRect">
            <a:avLst/>
          </a:prstGeom>
          <a:solidFill>
            <a:srgbClr val="F8FAFE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2057400"/>
            <a:ext cx="1371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1">
                <a:solidFill>
                  <a:srgbClr val="0078D4"/>
                </a:solidFill>
                <a:latin typeface="Aptos"/>
              </a:rPr>
              <a:t>Attribution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267712" y="2011679"/>
            <a:ext cx="3364992" cy="8229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300" b="0">
                <a:solidFill>
                  <a:srgbClr val="17233C"/>
                </a:solidFill>
                <a:latin typeface="Aptos"/>
              </a:rPr>
              <a:t>Only explicitly attributed evidence shapes the selected expert’s fingerprint.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99632" y="1874519"/>
            <a:ext cx="5349240" cy="1298448"/>
          </a:xfrm>
          <a:prstGeom prst="roundRect">
            <a:avLst/>
          </a:prstGeom>
          <a:solidFill>
            <a:srgbClr val="F8FAFE"/>
          </a:solidFill>
          <a:ln w="15240">
            <a:solidFill>
              <a:srgbClr val="0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28232" y="2057400"/>
            <a:ext cx="1371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1">
                <a:solidFill>
                  <a:srgbClr val="0F9D8B"/>
                </a:solidFill>
                <a:latin typeface="Aptos"/>
              </a:rPr>
              <a:t>Citations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827264" y="2011679"/>
            <a:ext cx="3364992" cy="8229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300" b="0">
                <a:solidFill>
                  <a:srgbClr val="17233C"/>
                </a:solidFill>
                <a:latin typeface="Aptos"/>
              </a:rPr>
              <a:t>Returned citation IDs must come from the evidence retrieved for that speaker.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40080" y="3410711"/>
            <a:ext cx="5349240" cy="1298448"/>
          </a:xfrm>
          <a:prstGeom prst="roundRect">
            <a:avLst/>
          </a:prstGeom>
          <a:solidFill>
            <a:srgbClr val="F8FAFE"/>
          </a:solidFill>
          <a:ln w="15240">
            <a:solidFill>
              <a:srgbClr val="F4A62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68680" y="3593591"/>
            <a:ext cx="1371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1">
                <a:solidFill>
                  <a:srgbClr val="F4A623"/>
                </a:solidFill>
                <a:latin typeface="Aptos"/>
              </a:rPr>
              <a:t>Uncertainty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267712" y="3547871"/>
            <a:ext cx="3364992" cy="8229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300" b="0">
                <a:solidFill>
                  <a:srgbClr val="17233C"/>
                </a:solidFill>
                <a:latin typeface="Aptos"/>
              </a:rPr>
              <a:t>Missing comparative evidence produces assumptions and evaluation gates—not invented preferences.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9632" y="3410711"/>
            <a:ext cx="5349240" cy="1298448"/>
          </a:xfrm>
          <a:prstGeom prst="roundRect">
            <a:avLst/>
          </a:prstGeom>
          <a:solidFill>
            <a:srgbClr val="F8FAFE"/>
          </a:solidFill>
          <a:ln w="15240">
            <a:solidFill>
              <a:srgbClr val="5B5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28232" y="3593591"/>
            <a:ext cx="1371600" cy="3657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500" b="1">
                <a:solidFill>
                  <a:srgbClr val="5B5BD6"/>
                </a:solidFill>
                <a:latin typeface="Aptos"/>
              </a:rPr>
              <a:t>Identity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827264" y="3547871"/>
            <a:ext cx="3364992" cy="8229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300" b="0">
                <a:solidFill>
                  <a:srgbClr val="17233C"/>
                </a:solidFill>
                <a:latin typeface="Aptos"/>
              </a:rPr>
              <a:t>The War Room accepts only the authorized roster and trusted role mapping.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" y="5074920"/>
            <a:ext cx="10972800" cy="868680"/>
          </a:xfrm>
          <a:prstGeom prst="roundRect">
            <a:avLst/>
          </a:prstGeom>
          <a:solidFill>
            <a:srgbClr val="FFF4F4"/>
          </a:solidFill>
          <a:ln w="15240">
            <a:solidFill>
              <a:srgbClr val="D645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8680" y="5285232"/>
            <a:ext cx="1691640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D64550"/>
                </a:solidFill>
                <a:latin typeface="Aptos"/>
              </a:rPr>
              <a:t>HACKATHON BOUNDARY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487168" y="5193792"/>
            <a:ext cx="8732520" cy="45720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600" b="1">
                <a:solidFill>
                  <a:srgbClr val="0B1F3A"/>
                </a:solidFill>
                <a:latin typeface="Aptos"/>
              </a:rPr>
              <a:t>Synthetic evidence only · public demo access · ephemeral uploads · not a claim about real employee behavior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6519672"/>
            <a:ext cx="4114800" cy="1645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00" b="1">
                <a:solidFill>
                  <a:srgbClr val="5E6B82"/>
                </a:solidFill>
                <a:latin typeface="Aptos"/>
              </a:rPr>
              <a:t>EXPERTTWIN · HACKATHON DEMO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r"/>
            <a:r>
              <a:rPr sz="900" b="1">
                <a:solidFill>
                  <a:srgbClr val="5E6B82"/>
                </a:solidFill>
                <a:latin typeface="Aptos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3F7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92608"/>
            <a:ext cx="10972800" cy="32004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100" b="1">
                <a:solidFill>
                  <a:srgbClr val="0078D4"/>
                </a:solidFill>
                <a:latin typeface="Aptos"/>
              </a:rPr>
              <a:t>FROM HACKATHON TO ENTERPRISE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621792"/>
            <a:ext cx="10972800" cy="6583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800" b="1">
                <a:solidFill>
                  <a:srgbClr val="0B1F3A"/>
                </a:solidFill>
                <a:latin typeface="Aptos"/>
              </a:rPr>
              <a:t>A focused path to trusted institutional memory.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12648" y="1252728"/>
            <a:ext cx="10698480" cy="43891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The prototype proves the interaction model; productionization strengthens data, identity, governance, and evaluation.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965960"/>
            <a:ext cx="35204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868680" y="2212848"/>
            <a:ext cx="804672" cy="347472"/>
          </a:xfrm>
          <a:prstGeom prst="roundRect">
            <a:avLst/>
          </a:prstGeom>
          <a:solidFill>
            <a:srgbClr val="F1F6FC"/>
          </a:solidFill>
          <a:ln w="15240">
            <a:solidFill>
              <a:srgbClr val="0078D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41832" y="2231136"/>
            <a:ext cx="6583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0078D4"/>
                </a:solidFill>
                <a:latin typeface="Aptos"/>
              </a:rPr>
              <a:t>NOW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61488"/>
            <a:ext cx="2971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Azure-hosted MVP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200400"/>
            <a:ext cx="2926080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Synthetic corpus · cited chat · 11-person War Room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70832" y="1965960"/>
            <a:ext cx="35204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0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4599432" y="2212848"/>
            <a:ext cx="804672" cy="347472"/>
          </a:xfrm>
          <a:prstGeom prst="roundRect">
            <a:avLst/>
          </a:prstGeom>
          <a:solidFill>
            <a:srgbClr val="F1F6FC"/>
          </a:solidFill>
          <a:ln w="15240">
            <a:solidFill>
              <a:srgbClr val="0F9D8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72584" y="2231136"/>
            <a:ext cx="6583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0F9D8B"/>
                </a:solidFill>
                <a:latin typeface="Aptos"/>
              </a:rPr>
              <a:t>NEXT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9432" y="2761488"/>
            <a:ext cx="2971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Enterprise-ready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99432" y="3200400"/>
            <a:ext cx="2926080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Entra authentication · durable storage · approved connectors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101583" y="1965960"/>
            <a:ext cx="3520440" cy="21488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5B5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8330183" y="2212848"/>
            <a:ext cx="804672" cy="347472"/>
          </a:xfrm>
          <a:prstGeom prst="roundRect">
            <a:avLst/>
          </a:prstGeom>
          <a:solidFill>
            <a:srgbClr val="F1F6FC"/>
          </a:solidFill>
          <a:ln w="15240">
            <a:solidFill>
              <a:srgbClr val="5B5BD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03336" y="2231136"/>
            <a:ext cx="658368" cy="27432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1000" b="1">
                <a:solidFill>
                  <a:srgbClr val="5B5BD6"/>
                </a:solidFill>
                <a:latin typeface="Aptos"/>
              </a:rPr>
              <a:t>SCALE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0183" y="2761488"/>
            <a:ext cx="2971800" cy="38404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2000" b="1">
                <a:solidFill>
                  <a:srgbClr val="0B1F3A"/>
                </a:solidFill>
                <a:latin typeface="Aptos"/>
              </a:rPr>
              <a:t>Knowledge 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30183" y="3200400"/>
            <a:ext cx="2926080" cy="6217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1400" b="0">
                <a:solidFill>
                  <a:srgbClr val="5E6B82"/>
                </a:solidFill>
                <a:latin typeface="Aptos"/>
              </a:rPr>
              <a:t>Azure AI Search · evaluations · consent and retention controls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" y="4572000"/>
            <a:ext cx="10972800" cy="1143000"/>
          </a:xfrm>
          <a:prstGeom prst="roundRect">
            <a:avLst/>
          </a:prstGeom>
          <a:solidFill>
            <a:srgbClr val="0B1F3A"/>
          </a:solidFill>
          <a:ln w="15240">
            <a:solidFill>
              <a:srgbClr val="0B1F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60120" y="4773168"/>
            <a:ext cx="10332720" cy="594360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ctr"/>
            <a:r>
              <a:rPr sz="2400" b="1">
                <a:solidFill>
                  <a:srgbClr val="FFFFFF"/>
                </a:solidFill>
                <a:latin typeface="Aptos"/>
              </a:rPr>
              <a:t>ExpertTwin turns the history of engineering decisions into an always-available mentor—without hiding the evidence.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94360" y="6519672"/>
            <a:ext cx="4114800" cy="164592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l"/>
            <a:r>
              <a:rPr sz="800" b="1">
                <a:solidFill>
                  <a:srgbClr val="5E6B82"/>
                </a:solidFill>
                <a:latin typeface="Aptos"/>
              </a:rPr>
              <a:t>EXPERTTWIN · HACKATHON DEMO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01400" y="6492240"/>
            <a:ext cx="411480" cy="201168"/>
          </a:xfrm>
          <a:prstGeom prst="rect">
            <a:avLst/>
          </a:prstGeom>
          <a:noFill/>
        </p:spPr>
        <p:txBody>
          <a:bodyPr wrap="square" lIns="54864" rIns="54864" tIns="54864" bIns="54864" anchor="ctr">
            <a:normAutofit/>
          </a:bodyPr>
          <a:lstStyle/>
          <a:p>
            <a:pPr algn="r"/>
            <a:r>
              <a:rPr sz="900" b="1">
                <a:solidFill>
                  <a:srgbClr val="5E6B82"/>
                </a:solidFill>
                <a:latin typeface="Aptos"/>
              </a:rPr>
              <a:t>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