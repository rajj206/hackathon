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005840"/>
            <a:ext cx="4846320" cy="4846320"/>
          </a:xfrm>
          <a:prstGeom prst="ellipse">
            <a:avLst/>
          </a:prstGeom>
          <a:solidFill>
            <a:srgbClr val="5B5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84080" y="3200400"/>
            <a:ext cx="2560320" cy="256032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30352"/>
            <a:ext cx="3657600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1">
                <a:solidFill>
                  <a:srgbClr val="65B5F6"/>
                </a:solidFill>
                <a:latin typeface="Aptos"/>
              </a:rPr>
              <a:t>EXPERTTWIN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786384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Preserve how experts decide.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7132320" cy="9601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200" b="0">
                <a:solidFill>
                  <a:srgbClr val="D6E9F8"/>
                </a:solidFill>
                <a:latin typeface="Aptos"/>
              </a:rPr>
              <a:t>An evidence-grounded AI Digital Employee for engineering judgment, mentoring, and institutional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977639"/>
            <a:ext cx="1325880" cy="347472"/>
          </a:xfrm>
          <a:prstGeom prst="roundRect">
            <a:avLst/>
          </a:prstGeom>
          <a:solidFill>
            <a:srgbClr val="292C63"/>
          </a:solidFill>
          <a:ln w="15240">
            <a:solidFill>
              <a:srgbClr val="C9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3995927"/>
            <a:ext cx="1179576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000" b="1">
                <a:solidFill>
                  <a:srgbClr val="C9C8FF"/>
                </a:solidFill>
                <a:latin typeface="Aptos"/>
              </a:rPr>
              <a:t>AI CLONES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3977639"/>
            <a:ext cx="1645920" cy="347472"/>
          </a:xfrm>
          <a:prstGeom prst="roundRect">
            <a:avLst/>
          </a:prstGeom>
          <a:solidFill>
            <a:srgbClr val="113E5D"/>
          </a:solidFill>
          <a:ln w="15240">
            <a:solidFill>
              <a:srgbClr val="8C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21992" y="3995927"/>
            <a:ext cx="1499616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000" b="1">
                <a:solidFill>
                  <a:srgbClr val="8CD9FF"/>
                </a:solidFill>
                <a:latin typeface="Aptos"/>
              </a:rPr>
              <a:t>CITED 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31920" y="3977639"/>
            <a:ext cx="1371600" cy="347472"/>
          </a:xfrm>
          <a:prstGeom prst="roundRect">
            <a:avLst/>
          </a:prstGeom>
          <a:solidFill>
            <a:srgbClr val="104941"/>
          </a:solidFill>
          <a:ln w="15240">
            <a:solidFill>
              <a:srgbClr val="8DE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05072" y="3995927"/>
            <a:ext cx="1225296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000" b="1">
                <a:solidFill>
                  <a:srgbClr val="8DE1D6"/>
                </a:solidFill>
                <a:latin typeface="Aptos"/>
              </a:rPr>
              <a:t>WAR ROOM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989320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300" b="0">
                <a:solidFill>
                  <a:srgbClr val="A7BED3"/>
                </a:solidFill>
                <a:latin typeface="Aptos"/>
              </a:rPr>
              <a:t>Azure-powered hackathon prototype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Apto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Aptos"/>
              </a:rPr>
              <a:t>Organizations preserve documents—but lose judgment.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52728"/>
            <a:ext cx="10698480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AI makes knowledge easier to find, yet the reasoning behind decisions remains fragmented or disappears.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2044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21408"/>
            <a:ext cx="594360" cy="4572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400" b="1">
                <a:solidFill>
                  <a:srgbClr val="0078D4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292608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900" b="1">
                <a:solidFill>
                  <a:srgbClr val="0B1F3A"/>
                </a:solidFill>
                <a:latin typeface="Aptos"/>
              </a:rPr>
              <a:t>WHAT survives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297180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Designs, meeting notes, tickets, ADRs, incident reports.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52044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B5B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121408"/>
            <a:ext cx="594360" cy="4572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400" b="1">
                <a:solidFill>
                  <a:srgbClr val="5B5BD6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697480"/>
            <a:ext cx="292608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900" b="1">
                <a:solidFill>
                  <a:srgbClr val="0B1F3A"/>
                </a:solidFill>
                <a:latin typeface="Aptos"/>
              </a:rPr>
              <a:t>WHY gets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127248"/>
            <a:ext cx="297180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Trade-offs, rejected options, risk appetite, and situational context.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1920240"/>
            <a:ext cx="352044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4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59" y="2121408"/>
            <a:ext cx="594360" cy="4572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400" b="1">
                <a:solidFill>
                  <a:srgbClr val="D64550"/>
                </a:solidFill>
                <a:latin typeface="Apto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697480"/>
            <a:ext cx="292608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900" b="1">
                <a:solidFill>
                  <a:srgbClr val="0B1F3A"/>
                </a:solidFill>
                <a:latin typeface="Aptos"/>
              </a:rPr>
              <a:t>EXPERTISE walks 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3127248"/>
            <a:ext cx="297180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Onboarding restarts and teams repeat old debates when experts move 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43400"/>
            <a:ext cx="10972800" cy="1325880"/>
          </a:xfrm>
          <a:prstGeom prst="roundRect">
            <a:avLst/>
          </a:prstGeom>
          <a:solidFill>
            <a:srgbClr val="0B1F3A"/>
          </a:solidFill>
          <a:ln w="1524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26280"/>
            <a:ext cx="10241280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tos"/>
              </a:rPr>
              <a:t>“A search tool can retrieve the decision. ExpertTwin reconstructs the decision-making pattern.”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5230368"/>
            <a:ext cx="8412480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0">
                <a:solidFill>
                  <a:srgbClr val="B9D8F4"/>
                </a:solidFill>
                <a:latin typeface="Aptos"/>
              </a:rPr>
              <a:t>The opportunity: turn institutional history into available, attributable guidance.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19672"/>
            <a:ext cx="4114800" cy="1645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800" b="1">
                <a:solidFill>
                  <a:srgbClr val="5E6B82"/>
                </a:solidFill>
                <a:latin typeface="Aptos"/>
              </a:rPr>
              <a:t>EXPERTTWIN · HACKATHON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r"/>
            <a:r>
              <a:rPr sz="900" b="1">
                <a:solidFill>
                  <a:srgbClr val="5E6B82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Aptos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Aptos"/>
              </a:rPr>
              <a:t>From scattered evidence to an Engineering Decision Fingerprint.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52728"/>
            <a:ext cx="10698480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ExpertTwin creates a trusted digital representation of how an expert approaches engineering problems.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965960"/>
            <a:ext cx="2606040" cy="2423160"/>
          </a:xfrm>
          <a:prstGeom prst="roundRect">
            <a:avLst/>
          </a:prstGeom>
          <a:solidFill>
            <a:srgbClr val="F8FAFE"/>
          </a:solidFill>
          <a:ln w="1524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94944" y="2176272"/>
            <a:ext cx="475488" cy="475488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2176272"/>
            <a:ext cx="475488" cy="47548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61488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100" b="1">
                <a:solidFill>
                  <a:srgbClr val="0B1F3A"/>
                </a:solidFill>
                <a:latin typeface="Aptos"/>
              </a:rPr>
              <a:t>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246120"/>
            <a:ext cx="214884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Documents, reviews, chats, transcripts, incidents, outcomes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36392" y="3172968"/>
            <a:ext cx="320040" cy="0"/>
          </a:xfrm>
          <a:prstGeom prst="line">
            <a:avLst/>
          </a:prstGeom>
          <a:ln w="25400">
            <a:solidFill>
              <a:srgbClr val="C8D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410712" y="1965960"/>
            <a:ext cx="2606040" cy="2423160"/>
          </a:xfrm>
          <a:prstGeom prst="roundRect">
            <a:avLst/>
          </a:prstGeom>
          <a:solidFill>
            <a:srgbClr val="F8FAFE"/>
          </a:solidFill>
          <a:ln w="15240">
            <a:solidFill>
              <a:srgbClr val="0F9D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75304" y="2176272"/>
            <a:ext cx="475488" cy="475488"/>
          </a:xfrm>
          <a:prstGeom prst="ellipse">
            <a:avLst/>
          </a:prstGeom>
          <a:solidFill>
            <a:srgbClr val="0F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5304" y="2176272"/>
            <a:ext cx="475488" cy="47548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761488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100" b="1">
                <a:solidFill>
                  <a:srgbClr val="0B1F3A"/>
                </a:solidFill>
                <a:latin typeface="Aptos"/>
              </a:rPr>
              <a:t>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3246120"/>
            <a:ext cx="214884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Extract choices, alternatives, rationale, constraints, risks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16752" y="3172968"/>
            <a:ext cx="320040" cy="0"/>
          </a:xfrm>
          <a:prstGeom prst="line">
            <a:avLst/>
          </a:prstGeom>
          <a:ln w="25400">
            <a:solidFill>
              <a:srgbClr val="C8D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91072" y="1965960"/>
            <a:ext cx="2606040" cy="2423160"/>
          </a:xfrm>
          <a:prstGeom prst="roundRect">
            <a:avLst/>
          </a:prstGeom>
          <a:solidFill>
            <a:srgbClr val="F8FAFE"/>
          </a:solidFill>
          <a:ln w="15240">
            <a:solidFill>
              <a:srgbClr val="5B5B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55664" y="2176272"/>
            <a:ext cx="475488" cy="475488"/>
          </a:xfrm>
          <a:prstGeom prst="ellipse">
            <a:avLst/>
          </a:prstGeom>
          <a:solidFill>
            <a:srgbClr val="5B5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2176272"/>
            <a:ext cx="475488" cy="47548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2761488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100" b="1">
                <a:solidFill>
                  <a:srgbClr val="0B1F3A"/>
                </a:solidFill>
                <a:latin typeface="Aptos"/>
              </a:rPr>
              <a:t>Fingerprint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246120"/>
            <a:ext cx="214884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Find recurring trade-offs, safeguards, and decision criteria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897112" y="3172968"/>
            <a:ext cx="320040" cy="0"/>
          </a:xfrm>
          <a:prstGeom prst="line">
            <a:avLst/>
          </a:prstGeom>
          <a:ln w="25400">
            <a:solidFill>
              <a:srgbClr val="C8D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71432" y="1965960"/>
            <a:ext cx="2606040" cy="2423160"/>
          </a:xfrm>
          <a:prstGeom prst="roundRect">
            <a:avLst/>
          </a:prstGeom>
          <a:solidFill>
            <a:srgbClr val="F8FAFE"/>
          </a:solidFill>
          <a:ln w="15240">
            <a:solidFill>
              <a:srgbClr val="F4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36024" y="2176272"/>
            <a:ext cx="475488" cy="475488"/>
          </a:xfrm>
          <a:prstGeom prst="ellipse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36024" y="2176272"/>
            <a:ext cx="475488" cy="47548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54311" y="2761488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100" b="1">
                <a:solidFill>
                  <a:srgbClr val="0B1F3A"/>
                </a:solidFill>
                <a:latin typeface="Aptos"/>
              </a:rPr>
              <a:t>Advise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54311" y="3246120"/>
            <a:ext cx="2148840" cy="78638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Answer as one AI Clone or convene the engineering War 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892040"/>
            <a:ext cx="146304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Aptos"/>
              </a:rPr>
              <a:t>CORE PROMISE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230368"/>
            <a:ext cx="10789920" cy="7772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500" b="1">
                <a:solidFill>
                  <a:srgbClr val="0B1F3A"/>
                </a:solidFill>
                <a:latin typeface="Aptos"/>
              </a:rPr>
              <a:t>Guidance aligned to demonstrated engineering judgment—grounded in evidence, transparent about inference, and explicit about uncertainty.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519672"/>
            <a:ext cx="4114800" cy="1645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800" b="1">
                <a:solidFill>
                  <a:srgbClr val="5E6B82"/>
                </a:solidFill>
                <a:latin typeface="Aptos"/>
              </a:rPr>
              <a:t>EXPERTTWIN · HACKATHON 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r"/>
            <a:r>
              <a:rPr sz="900" b="1">
                <a:solidFill>
                  <a:srgbClr val="5E6B82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Aptos"/>
              </a:rPr>
              <a:t>EVIDENCE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Aptos"/>
              </a:rPr>
              <a:t>A body of work becomes attributable decision intelligence.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52728"/>
            <a:ext cx="10698480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The system preserves provenance instead of flattening every source into anonymous text chunks.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219456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Aptos"/>
              </a:rPr>
              <a:t>ENTERPRISE SIGNALS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67712"/>
            <a:ext cx="233172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304288"/>
            <a:ext cx="192024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300" b="1">
                <a:solidFill>
                  <a:srgbClr val="17233C"/>
                </a:solidFill>
                <a:latin typeface="Aptos"/>
              </a:rPr>
              <a:t>Design reviews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233172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916936"/>
            <a:ext cx="192024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300" b="1">
                <a:solidFill>
                  <a:srgbClr val="17233C"/>
                </a:solidFill>
                <a:latin typeface="Aptos"/>
              </a:rPr>
              <a:t>Meeting turns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93008"/>
            <a:ext cx="233172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529584"/>
            <a:ext cx="192024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300" b="1">
                <a:solidFill>
                  <a:srgbClr val="17233C"/>
                </a:solidFill>
                <a:latin typeface="Aptos"/>
              </a:rPr>
              <a:t>Engineering chat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05656"/>
            <a:ext cx="233172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42232"/>
            <a:ext cx="192024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300" b="1">
                <a:solidFill>
                  <a:srgbClr val="17233C"/>
                </a:solidFill>
                <a:latin typeface="Aptos"/>
              </a:rPr>
              <a:t>Incidents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18304"/>
            <a:ext cx="233172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754880"/>
            <a:ext cx="192024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300" b="1">
                <a:solidFill>
                  <a:srgbClr val="17233C"/>
                </a:solidFill>
                <a:latin typeface="Aptos"/>
              </a:rPr>
              <a:t>ADRs + outcomes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1874519"/>
            <a:ext cx="292608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0F9D8B"/>
                </a:solidFill>
                <a:latin typeface="Aptos"/>
              </a:rPr>
              <a:t>STRUCTURED DECISION RECORD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2267712"/>
            <a:ext cx="3749039" cy="2944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9D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13632" y="2487168"/>
            <a:ext cx="3154680" cy="2423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7233C"/>
                </a:solidFill>
                <a:latin typeface="Aptos"/>
              </a:defRPr>
            </a:pPr>
            <a:r>
              <a:t>•  Expert + role + timestamp</a:t>
            </a:r>
          </a:p>
          <a:p>
            <a:pPr>
              <a:spcAft>
                <a:spcPts val="1000"/>
              </a:spcAft>
              <a:defRPr sz="1500">
                <a:solidFill>
                  <a:srgbClr val="17233C"/>
                </a:solidFill>
                <a:latin typeface="Aptos"/>
              </a:defRPr>
            </a:pPr>
            <a:r>
              <a:t>•  Choice and alternatives</a:t>
            </a:r>
          </a:p>
          <a:p>
            <a:pPr>
              <a:spcAft>
                <a:spcPts val="1000"/>
              </a:spcAft>
              <a:defRPr sz="1500">
                <a:solidFill>
                  <a:srgbClr val="17233C"/>
                </a:solidFill>
                <a:latin typeface="Aptos"/>
              </a:defRPr>
            </a:pPr>
            <a:r>
              <a:t>•  Rationale and constraints</a:t>
            </a:r>
          </a:p>
          <a:p>
            <a:pPr>
              <a:spcAft>
                <a:spcPts val="1000"/>
              </a:spcAft>
              <a:defRPr sz="1500">
                <a:solidFill>
                  <a:srgbClr val="17233C"/>
                </a:solidFill>
                <a:latin typeface="Aptos"/>
              </a:defRPr>
            </a:pPr>
            <a:r>
              <a:t>•  Risks and observed outcome</a:t>
            </a:r>
          </a:p>
          <a:p>
            <a:pPr>
              <a:spcAft>
                <a:spcPts val="1000"/>
              </a:spcAft>
              <a:defRPr sz="1500">
                <a:solidFill>
                  <a:srgbClr val="17233C"/>
                </a:solidFill>
                <a:latin typeface="Aptos"/>
              </a:defRPr>
            </a:pPr>
            <a:r>
              <a:t>•  Source, segment, thread, confidence</a:t>
            </a:r>
          </a:p>
          <a:p>
            <a:pPr>
              <a:spcAft>
                <a:spcPts val="1000"/>
              </a:spcAft>
              <a:defRPr sz="1500">
                <a:solidFill>
                  <a:srgbClr val="17233C"/>
                </a:solidFill>
                <a:latin typeface="Aptos"/>
              </a:defRPr>
            </a:pPr>
            <a:r>
              <a:t>•  Simulation and attribution status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1874519"/>
            <a:ext cx="274320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5B5BD6"/>
                </a:solidFill>
                <a:latin typeface="Aptos"/>
              </a:rPr>
              <a:t>DECISION FINGERPRINT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73568" y="2267712"/>
            <a:ext cx="3566160" cy="2944368"/>
          </a:xfrm>
          <a:prstGeom prst="roundRect">
            <a:avLst/>
          </a:prstGeom>
          <a:solidFill>
            <a:srgbClr val="F5F1FF"/>
          </a:solidFill>
          <a:ln w="15240">
            <a:solidFill>
              <a:srgbClr val="5B5B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2468880"/>
            <a:ext cx="150876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Aptos"/>
              </a:rPr>
              <a:t>Trade-off style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10928" y="2468880"/>
            <a:ext cx="1481328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200" b="0">
                <a:solidFill>
                  <a:srgbClr val="5E6B82"/>
                </a:solidFill>
                <a:latin typeface="Aptos"/>
              </a:rPr>
              <a:t>What gets optimized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953512"/>
            <a:ext cx="150876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Aptos"/>
              </a:rPr>
              <a:t>Risk posture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0928" y="2953512"/>
            <a:ext cx="1481328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200" b="0">
                <a:solidFill>
                  <a:srgbClr val="5E6B82"/>
                </a:solidFill>
                <a:latin typeface="Aptos"/>
              </a:rPr>
              <a:t>What must be protected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3438144"/>
            <a:ext cx="150876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Aptos"/>
              </a:rPr>
              <a:t>Selection criteria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0928" y="3438144"/>
            <a:ext cx="1481328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200" b="0">
                <a:solidFill>
                  <a:srgbClr val="5E6B82"/>
                </a:solidFill>
                <a:latin typeface="Aptos"/>
              </a:rPr>
              <a:t>How technologies are compared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922776"/>
            <a:ext cx="150876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Aptos"/>
              </a:rPr>
              <a:t>Recovery strategy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10928" y="3922776"/>
            <a:ext cx="1481328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200" b="0">
                <a:solidFill>
                  <a:srgbClr val="5E6B82"/>
                </a:solidFill>
                <a:latin typeface="Aptos"/>
              </a:rPr>
              <a:t>How failure is handled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407408"/>
            <a:ext cx="150876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Aptos"/>
              </a:rPr>
              <a:t>Operating principles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10928" y="4407408"/>
            <a:ext cx="1481328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200" b="0">
                <a:solidFill>
                  <a:srgbClr val="5E6B82"/>
                </a:solidFill>
                <a:latin typeface="Aptos"/>
              </a:rPr>
              <a:t>What production readiness means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017520" y="3657600"/>
            <a:ext cx="502920" cy="0"/>
          </a:xfrm>
          <a:prstGeom prst="line">
            <a:avLst/>
          </a:prstGeom>
          <a:ln w="381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406640" y="3657600"/>
            <a:ext cx="502920" cy="0"/>
          </a:xfrm>
          <a:prstGeom prst="line">
            <a:avLst/>
          </a:prstGeom>
          <a:ln w="38100">
            <a:solidFill>
              <a:srgbClr val="5B5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94360" y="6519672"/>
            <a:ext cx="4114800" cy="1645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800" b="1">
                <a:solidFill>
                  <a:srgbClr val="5E6B82"/>
                </a:solidFill>
                <a:latin typeface="Aptos"/>
              </a:rPr>
              <a:t>EXPERTTWIN · HACKATHON DEMO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r"/>
            <a:r>
              <a:rPr sz="900" b="1">
                <a:solidFill>
                  <a:srgbClr val="5E6B82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xpertTwin-Azure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Aptos"/>
              </a:rPr>
              <a:t>EXPERIENCE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Aptos"/>
              </a:rPr>
              <a:t>Ask one expert’s AI Clone.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52728"/>
            <a:ext cx="10698480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Answers reflect retrieved decision evidence—not a generic persona or an invented preference.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657600" cy="3611880"/>
          </a:xfrm>
          <a:prstGeom prst="roundRect">
            <a:avLst/>
          </a:prstGeom>
          <a:solidFill>
            <a:srgbClr val="0B1F3A"/>
          </a:solidFill>
          <a:ln w="1524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731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65B5F6"/>
                </a:solidFill>
                <a:latin typeface="Aptos"/>
              </a:rPr>
              <a:t>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2971800" cy="11430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“How should we recover from partial audit-pipeline failure without losing or duplicating data?”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4160520"/>
            <a:ext cx="2697480" cy="347472"/>
          </a:xfrm>
          <a:prstGeom prst="roundRect">
            <a:avLst/>
          </a:prstGeom>
          <a:solidFill>
            <a:srgbClr val="292C63"/>
          </a:solidFill>
          <a:ln w="15240">
            <a:solidFill>
              <a:srgbClr val="C9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4178807"/>
            <a:ext cx="2551176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000" b="1">
                <a:solidFill>
                  <a:srgbClr val="C9C8FF"/>
                </a:solidFill>
                <a:latin typeface="Aptos"/>
              </a:rPr>
              <a:t>Selected: Rajendra Kalepu (AI Clone)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828800"/>
            <a:ext cx="6931152" cy="3611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057400"/>
            <a:ext cx="25603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0F9D8B"/>
                </a:solidFill>
                <a:latin typeface="Aptos"/>
              </a:rPr>
              <a:t>EVIDENCE-BACKED 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514600"/>
            <a:ext cx="6172200" cy="10515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Use deterministic checkpoints, explicit quarantine, and batch-level reconciliation. Treat pipeline completion as insufficient unless contract validity, freshness, uniqueness, and accepted-versus-rejected counts are observable.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60" y="3931920"/>
            <a:ext cx="1965960" cy="347472"/>
          </a:xfrm>
          <a:prstGeom prst="roundRect">
            <a:avLst/>
          </a:prstGeom>
          <a:solidFill>
            <a:srgbClr val="E8F8F5"/>
          </a:solidFill>
          <a:ln w="15240">
            <a:solidFill>
              <a:srgbClr val="0F9D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0912" y="3950207"/>
            <a:ext cx="1819656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000" b="1">
                <a:solidFill>
                  <a:srgbClr val="0F9D8B"/>
                </a:solidFill>
                <a:latin typeface="Aptos"/>
              </a:rPr>
              <a:t>4 expert-attributed citations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6600" y="3931920"/>
            <a:ext cx="1417320" cy="347472"/>
          </a:xfrm>
          <a:prstGeom prst="roundRect">
            <a:avLst/>
          </a:prstGeom>
          <a:solidFill>
            <a:srgbClr val="F0EFFF"/>
          </a:solidFill>
          <a:ln w="15240">
            <a:solidFill>
              <a:srgbClr val="5B5B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59752" y="3950207"/>
            <a:ext cx="1271016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000" b="1">
                <a:solidFill>
                  <a:srgbClr val="5B5BD6"/>
                </a:solidFill>
                <a:latin typeface="Aptos"/>
              </a:rPr>
              <a:t>Inference labeled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931920"/>
            <a:ext cx="1600200" cy="347472"/>
          </a:xfrm>
          <a:prstGeom prst="roundRect">
            <a:avLst/>
          </a:prstGeom>
          <a:solidFill>
            <a:srgbClr val="FFF8E8"/>
          </a:solidFill>
          <a:ln w="15240">
            <a:solidFill>
              <a:srgbClr val="F4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2" y="3950207"/>
            <a:ext cx="1453896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000" b="1">
                <a:solidFill>
                  <a:srgbClr val="F4A623"/>
                </a:solidFill>
                <a:latin typeface="Aptos"/>
              </a:rPr>
              <a:t>Uncertainty explicit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4645152"/>
            <a:ext cx="6080760" cy="47548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Trust behavior: when the evidence does not establish a preference, ExpertTwin says so instead of attributing a fabricated opinion.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19672"/>
            <a:ext cx="4114800" cy="1645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800" b="1">
                <a:solidFill>
                  <a:srgbClr val="5E6B82"/>
                </a:solidFill>
                <a:latin typeface="Aptos"/>
              </a:rPr>
              <a:t>EXPERTTWIN · HACKATHON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r"/>
            <a:r>
              <a:rPr sz="900" b="1">
                <a:solidFill>
                  <a:srgbClr val="5E6B82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Aptos"/>
              </a:rPr>
              <a:t>EXPERIENCE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Aptos"/>
              </a:rPr>
              <a:t>Convene the Engineering War Room.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52728"/>
            <a:ext cx="10698480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Eleven AI Clones discuss one decision, challenge assumptions, and converge on an accountable recommendation.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057400"/>
            <a:ext cx="566928" cy="566928"/>
          </a:xfrm>
          <a:prstGeom prst="ellipse">
            <a:avLst/>
          </a:prstGeom>
          <a:solidFill>
            <a:srgbClr val="5B5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57400"/>
            <a:ext cx="566928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HM</a:t>
            </a:r>
          </a:p>
        </p:txBody>
      </p:sp>
      <p:sp>
        <p:nvSpPr>
          <p:cNvPr id="7" name="Oval 6"/>
          <p:cNvSpPr/>
          <p:nvPr/>
        </p:nvSpPr>
        <p:spPr>
          <a:xfrm>
            <a:off x="1572768" y="2057400"/>
            <a:ext cx="566928" cy="566928"/>
          </a:xfrm>
          <a:prstGeom prst="ellipse">
            <a:avLst/>
          </a:prstGeom>
          <a:solidFill>
            <a:srgbClr val="D64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72768" y="2057400"/>
            <a:ext cx="566928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AS</a:t>
            </a:r>
          </a:p>
        </p:txBody>
      </p:sp>
      <p:sp>
        <p:nvSpPr>
          <p:cNvPr id="9" name="Oval 8"/>
          <p:cNvSpPr/>
          <p:nvPr/>
        </p:nvSpPr>
        <p:spPr>
          <a:xfrm>
            <a:off x="2487168" y="2057400"/>
            <a:ext cx="566928" cy="566928"/>
          </a:xfrm>
          <a:prstGeom prst="ellipse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7168" y="2057400"/>
            <a:ext cx="566928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DS</a:t>
            </a:r>
          </a:p>
        </p:txBody>
      </p:sp>
      <p:sp>
        <p:nvSpPr>
          <p:cNvPr id="11" name="Oval 10"/>
          <p:cNvSpPr/>
          <p:nvPr/>
        </p:nvSpPr>
        <p:spPr>
          <a:xfrm>
            <a:off x="3401568" y="2057400"/>
            <a:ext cx="566928" cy="566928"/>
          </a:xfrm>
          <a:prstGeom prst="ellipse">
            <a:avLst/>
          </a:prstGeom>
          <a:solidFill>
            <a:srgbClr val="0F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2057400"/>
            <a:ext cx="566928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KR</a:t>
            </a:r>
          </a:p>
        </p:txBody>
      </p:sp>
      <p:sp>
        <p:nvSpPr>
          <p:cNvPr id="13" name="Oval 12"/>
          <p:cNvSpPr/>
          <p:nvPr/>
        </p:nvSpPr>
        <p:spPr>
          <a:xfrm>
            <a:off x="4315968" y="2057400"/>
            <a:ext cx="566928" cy="566928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5968" y="2057400"/>
            <a:ext cx="566928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MP</a:t>
            </a:r>
          </a:p>
        </p:txBody>
      </p:sp>
      <p:sp>
        <p:nvSpPr>
          <p:cNvPr id="15" name="Oval 14"/>
          <p:cNvSpPr/>
          <p:nvPr/>
        </p:nvSpPr>
        <p:spPr>
          <a:xfrm>
            <a:off x="5230368" y="2057400"/>
            <a:ext cx="566928" cy="566928"/>
          </a:xfrm>
          <a:prstGeom prst="ellipse">
            <a:avLst/>
          </a:prstGeom>
          <a:solidFill>
            <a:srgbClr val="28A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057400"/>
            <a:ext cx="566928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NL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2880360"/>
            <a:ext cx="566928" cy="566928"/>
          </a:xfrm>
          <a:prstGeom prst="ellipse">
            <a:avLst/>
          </a:prstGeom>
          <a:solidFill>
            <a:srgbClr val="6F5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880360"/>
            <a:ext cx="566928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RK</a:t>
            </a:r>
          </a:p>
        </p:txBody>
      </p:sp>
      <p:sp>
        <p:nvSpPr>
          <p:cNvPr id="19" name="Oval 18"/>
          <p:cNvSpPr/>
          <p:nvPr/>
        </p:nvSpPr>
        <p:spPr>
          <a:xfrm>
            <a:off x="1572768" y="2880360"/>
            <a:ext cx="566928" cy="566928"/>
          </a:xfrm>
          <a:prstGeom prst="ellipse">
            <a:avLst/>
          </a:prstGeom>
          <a:solidFill>
            <a:srgbClr val="C43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72768" y="2880360"/>
            <a:ext cx="566928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SS</a:t>
            </a:r>
          </a:p>
        </p:txBody>
      </p:sp>
      <p:sp>
        <p:nvSpPr>
          <p:cNvPr id="21" name="Oval 20"/>
          <p:cNvSpPr/>
          <p:nvPr/>
        </p:nvSpPr>
        <p:spPr>
          <a:xfrm>
            <a:off x="2487168" y="2880360"/>
            <a:ext cx="566928" cy="566928"/>
          </a:xfrm>
          <a:prstGeom prst="ellipse">
            <a:avLst/>
          </a:prstGeom>
          <a:solidFill>
            <a:srgbClr val="2FBF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87168" y="2880360"/>
            <a:ext cx="566928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SY</a:t>
            </a:r>
          </a:p>
        </p:txBody>
      </p:sp>
      <p:sp>
        <p:nvSpPr>
          <p:cNvPr id="23" name="Oval 22"/>
          <p:cNvSpPr/>
          <p:nvPr/>
        </p:nvSpPr>
        <p:spPr>
          <a:xfrm>
            <a:off x="3401568" y="2880360"/>
            <a:ext cx="566928" cy="566928"/>
          </a:xfrm>
          <a:prstGeom prst="ellipse">
            <a:avLst/>
          </a:prstGeom>
          <a:solidFill>
            <a:srgbClr val="987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01568" y="2880360"/>
            <a:ext cx="566928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TU</a:t>
            </a:r>
          </a:p>
        </p:txBody>
      </p:sp>
      <p:sp>
        <p:nvSpPr>
          <p:cNvPr id="25" name="Oval 24"/>
          <p:cNvSpPr/>
          <p:nvPr/>
        </p:nvSpPr>
        <p:spPr>
          <a:xfrm>
            <a:off x="4315968" y="2880360"/>
            <a:ext cx="566928" cy="566928"/>
          </a:xfrm>
          <a:prstGeom prst="ellipse">
            <a:avLst/>
          </a:prstGeom>
          <a:solidFill>
            <a:srgbClr val="1D6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2880360"/>
            <a:ext cx="566928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VS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749039"/>
            <a:ext cx="5303520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Aptos"/>
              </a:rPr>
              <a:t>11 authorized AI Clones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160520"/>
            <a:ext cx="5303520" cy="1600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7233C"/>
                </a:solidFill>
                <a:latin typeface="Aptos"/>
              </a:defRPr>
            </a:pPr>
            <a:r>
              <a:t>•  Hrishikesh frames and owns the final decision</a:t>
            </a:r>
          </a:p>
          <a:p>
            <a:pPr>
              <a:spcAft>
                <a:spcPts val="1000"/>
              </a:spcAft>
              <a:defRPr sz="1500">
                <a:solidFill>
                  <a:srgbClr val="17233C"/>
                </a:solidFill>
                <a:latin typeface="Aptos"/>
              </a:defRPr>
            </a:pPr>
            <a:r>
              <a:t>•  Participants challenge and refine one another</a:t>
            </a:r>
          </a:p>
          <a:p>
            <a:pPr>
              <a:spcAft>
                <a:spcPts val="1000"/>
              </a:spcAft>
              <a:defRPr sz="1500">
                <a:solidFill>
                  <a:srgbClr val="17233C"/>
                </a:solidFill>
                <a:latin typeface="Aptos"/>
              </a:defRPr>
            </a:pPr>
            <a:r>
              <a:t>•  Every claim is bounded to retrieved evidence</a:t>
            </a:r>
          </a:p>
          <a:p>
            <a:pPr>
              <a:spcAft>
                <a:spcPts val="1000"/>
              </a:spcAft>
              <a:defRPr sz="1500">
                <a:solidFill>
                  <a:srgbClr val="17233C"/>
                </a:solidFill>
                <a:latin typeface="Aptos"/>
              </a:defRPr>
            </a:pPr>
            <a:r>
              <a:t>•  Dissent, risks, mitigations, and actions are preserved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1828800"/>
            <a:ext cx="5257800" cy="4069080"/>
          </a:xfrm>
          <a:prstGeom prst="roundRect">
            <a:avLst/>
          </a:prstGeom>
          <a:solidFill>
            <a:srgbClr val="F5F1FF"/>
          </a:solidFill>
          <a:ln w="15240">
            <a:solidFill>
              <a:srgbClr val="5B5B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2121408"/>
            <a:ext cx="30175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5B5BD6"/>
                </a:solidFill>
                <a:latin typeface="Aptos"/>
              </a:rPr>
              <a:t>MANAGER-LED FINAL 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606040"/>
            <a:ext cx="4434840" cy="9601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Adopt replay-safe checkpoints, quarantine invalid events, and gate release on reconciliation evidence.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0" y="3886200"/>
            <a:ext cx="1417320" cy="347472"/>
          </a:xfrm>
          <a:prstGeom prst="roundRect">
            <a:avLst/>
          </a:prstGeom>
          <a:solidFill>
            <a:srgbClr val="FDEEEF"/>
          </a:solidFill>
          <a:ln w="15240">
            <a:solidFill>
              <a:srgbClr val="D64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56832" y="3904487"/>
            <a:ext cx="1271016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000" b="1">
                <a:solidFill>
                  <a:srgbClr val="D64550"/>
                </a:solidFill>
                <a:latin typeface="Aptos"/>
              </a:rPr>
              <a:t>DISSENT RETAINED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83879" y="3886200"/>
            <a:ext cx="1874519" cy="347472"/>
          </a:xfrm>
          <a:prstGeom prst="roundRect">
            <a:avLst/>
          </a:prstGeom>
          <a:solidFill>
            <a:srgbClr val="FFF8E8"/>
          </a:solidFill>
          <a:ln w="15240">
            <a:solidFill>
              <a:srgbClr val="F4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1" y="3904487"/>
            <a:ext cx="1728216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000" b="1">
                <a:solidFill>
                  <a:srgbClr val="F4A623"/>
                </a:solidFill>
                <a:latin typeface="Aptos"/>
              </a:rPr>
              <a:t>RISKS + MITIGATIONS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41280" y="3886200"/>
            <a:ext cx="1051560" cy="347472"/>
          </a:xfrm>
          <a:prstGeom prst="roundRect">
            <a:avLst/>
          </a:prstGeom>
          <a:solidFill>
            <a:srgbClr val="E8F8F5"/>
          </a:solidFill>
          <a:ln w="15240">
            <a:solidFill>
              <a:srgbClr val="0F9D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14432" y="3904487"/>
            <a:ext cx="905255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000" b="1">
                <a:solidFill>
                  <a:srgbClr val="0F9D8B"/>
                </a:solidFill>
                <a:latin typeface="Aptos"/>
              </a:rPr>
              <a:t>OWNED ACTIONS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754880"/>
            <a:ext cx="4434840" cy="47548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600" b="1">
                <a:solidFill>
                  <a:srgbClr val="5E6B82"/>
                </a:solidFill>
                <a:latin typeface="Aptos"/>
              </a:rPr>
              <a:t>The panel behaves like a group chat; the output behaves like a review record.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519672"/>
            <a:ext cx="4114800" cy="1645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800" b="1">
                <a:solidFill>
                  <a:srgbClr val="5E6B82"/>
                </a:solidFill>
                <a:latin typeface="Aptos"/>
              </a:rPr>
              <a:t>EXPERTTWIN · HACKATHON DEMO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r"/>
            <a:r>
              <a:rPr sz="900" b="1">
                <a:solidFill>
                  <a:srgbClr val="5E6B82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Aptos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Aptos"/>
              </a:rPr>
              <a:t>Beyond search, generic copilots, and static personas.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52728"/>
            <a:ext cx="10698480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ExpertTwin combines provenance, behavior patterns, and collaborative decision simulation.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2560320" cy="594360"/>
          </a:xfrm>
          <a:prstGeom prst="roundRect">
            <a:avLst/>
          </a:prstGeom>
          <a:solidFill>
            <a:srgbClr val="0B1F3A"/>
          </a:solidFill>
          <a:ln w="1524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1901952"/>
            <a:ext cx="2414015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Capability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59" y="1828800"/>
            <a:ext cx="2560320" cy="594360"/>
          </a:xfrm>
          <a:prstGeom prst="roundRect">
            <a:avLst/>
          </a:prstGeom>
          <a:solidFill>
            <a:srgbClr val="5E6B82"/>
          </a:solidFill>
          <a:ln w="15240">
            <a:solidFill>
              <a:srgbClr val="5E6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82111" y="1901952"/>
            <a:ext cx="2414015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Document search / RAG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4999" y="1828800"/>
            <a:ext cx="2377440" cy="594360"/>
          </a:xfrm>
          <a:prstGeom prst="roundRect">
            <a:avLst/>
          </a:prstGeom>
          <a:solidFill>
            <a:srgbClr val="0078D4"/>
          </a:solidFill>
          <a:ln w="1524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88151" y="1901952"/>
            <a:ext cx="2231136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Generic copilot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1828800"/>
            <a:ext cx="2880360" cy="594360"/>
          </a:xfrm>
          <a:prstGeom prst="roundRect">
            <a:avLst/>
          </a:prstGeom>
          <a:solidFill>
            <a:srgbClr val="5B5BD6"/>
          </a:solidFill>
          <a:ln w="15240">
            <a:solidFill>
              <a:srgbClr val="5B5B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901952"/>
            <a:ext cx="2734056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ExpertTwin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05456"/>
            <a:ext cx="256032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542032"/>
            <a:ext cx="2414015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Aptos"/>
              </a:rPr>
              <a:t>Find relevant content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59" y="2505456"/>
            <a:ext cx="256032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1" y="2542032"/>
            <a:ext cx="2414015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0">
                <a:solidFill>
                  <a:srgbClr val="5E6B82"/>
                </a:solidFill>
                <a:latin typeface="Aptos"/>
              </a:rPr>
              <a:t>Yes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4999" y="2505456"/>
            <a:ext cx="237744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88151" y="2542032"/>
            <a:ext cx="2231136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0">
                <a:solidFill>
                  <a:srgbClr val="5E6B82"/>
                </a:solidFill>
                <a:latin typeface="Aptos"/>
              </a:rPr>
              <a:t>Sometimes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59" y="2505456"/>
            <a:ext cx="288036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1311" y="2542032"/>
            <a:ext cx="2734056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Yes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99232"/>
            <a:ext cx="2560320" cy="475488"/>
          </a:xfrm>
          <a:prstGeom prst="rect">
            <a:avLst/>
          </a:prstGeom>
          <a:solidFill>
            <a:srgbClr val="F7F9FC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035808"/>
            <a:ext cx="2414015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Aptos"/>
              </a:rPr>
              <a:t>Explain why decisions were made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59" y="2999232"/>
            <a:ext cx="2560320" cy="475488"/>
          </a:xfrm>
          <a:prstGeom prst="rect">
            <a:avLst/>
          </a:prstGeom>
          <a:solidFill>
            <a:srgbClr val="F7F9FC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82111" y="3035808"/>
            <a:ext cx="2414015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0">
                <a:solidFill>
                  <a:srgbClr val="5E6B82"/>
                </a:solidFill>
                <a:latin typeface="Aptos"/>
              </a:rPr>
              <a:t>Partial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14999" y="2999232"/>
            <a:ext cx="2377440" cy="475488"/>
          </a:xfrm>
          <a:prstGeom prst="rect">
            <a:avLst/>
          </a:prstGeom>
          <a:solidFill>
            <a:srgbClr val="F7F9FC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88151" y="3035808"/>
            <a:ext cx="2231136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0">
                <a:solidFill>
                  <a:srgbClr val="5E6B82"/>
                </a:solidFill>
                <a:latin typeface="Aptos"/>
              </a:rPr>
              <a:t>Generic inference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59" y="2999232"/>
            <a:ext cx="2880360" cy="475488"/>
          </a:xfrm>
          <a:prstGeom prst="rect">
            <a:avLst/>
          </a:prstGeom>
          <a:solidFill>
            <a:srgbClr val="F7F9FC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1" y="3035808"/>
            <a:ext cx="2734056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Evidence-grounded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93008"/>
            <a:ext cx="256032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3529584"/>
            <a:ext cx="2414015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Aptos"/>
              </a:rPr>
              <a:t>Model recurring expert judgment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59" y="3493008"/>
            <a:ext cx="256032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82111" y="3529584"/>
            <a:ext cx="2414015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0">
                <a:solidFill>
                  <a:srgbClr val="5E6B82"/>
                </a:solidFill>
                <a:latin typeface="Aptos"/>
              </a:rPr>
              <a:t>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14999" y="3493008"/>
            <a:ext cx="237744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88151" y="3529584"/>
            <a:ext cx="2231136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0">
                <a:solidFill>
                  <a:srgbClr val="5E6B82"/>
                </a:solidFill>
                <a:latin typeface="Aptos"/>
              </a:rPr>
              <a:t>No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8159" y="3493008"/>
            <a:ext cx="288036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11311" y="3529584"/>
            <a:ext cx="2734056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Decision Fingerprint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986784"/>
            <a:ext cx="2560320" cy="475488"/>
          </a:xfrm>
          <a:prstGeom prst="rect">
            <a:avLst/>
          </a:prstGeom>
          <a:solidFill>
            <a:srgbClr val="F7F9FC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6072" y="4023360"/>
            <a:ext cx="2414015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Aptos"/>
              </a:rPr>
              <a:t>Attribute claims to sources/people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59" y="3986784"/>
            <a:ext cx="2560320" cy="475488"/>
          </a:xfrm>
          <a:prstGeom prst="rect">
            <a:avLst/>
          </a:prstGeom>
          <a:solidFill>
            <a:srgbClr val="F7F9FC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1" y="4023360"/>
            <a:ext cx="2414015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0">
                <a:solidFill>
                  <a:srgbClr val="5E6B82"/>
                </a:solidFill>
                <a:latin typeface="Aptos"/>
              </a:rPr>
              <a:t>Source only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14999" y="3986784"/>
            <a:ext cx="2377440" cy="475488"/>
          </a:xfrm>
          <a:prstGeom prst="rect">
            <a:avLst/>
          </a:prstGeom>
          <a:solidFill>
            <a:srgbClr val="F7F9FC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88151" y="4023360"/>
            <a:ext cx="2231136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0">
                <a:solidFill>
                  <a:srgbClr val="5E6B82"/>
                </a:solidFill>
                <a:latin typeface="Aptos"/>
              </a:rPr>
              <a:t>Often opaque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59" y="3986784"/>
            <a:ext cx="2880360" cy="475488"/>
          </a:xfrm>
          <a:prstGeom prst="rect">
            <a:avLst/>
          </a:prstGeom>
          <a:solidFill>
            <a:srgbClr val="F7F9FC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11311" y="4023360"/>
            <a:ext cx="2734056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Explicit provenance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480560"/>
            <a:ext cx="256032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6072" y="4517136"/>
            <a:ext cx="2414015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Aptos"/>
              </a:rPr>
              <a:t>Handle missing evidence safely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59" y="4480560"/>
            <a:ext cx="256032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82111" y="4517136"/>
            <a:ext cx="2414015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0">
                <a:solidFill>
                  <a:srgbClr val="5E6B82"/>
                </a:solidFill>
                <a:latin typeface="Aptos"/>
              </a:rPr>
              <a:t>Returns documents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14999" y="4480560"/>
            <a:ext cx="237744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88151" y="4517136"/>
            <a:ext cx="2231136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0">
                <a:solidFill>
                  <a:srgbClr val="5E6B82"/>
                </a:solidFill>
                <a:latin typeface="Aptos"/>
              </a:rPr>
              <a:t>May hallucinate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38159" y="4480560"/>
            <a:ext cx="288036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11311" y="4517136"/>
            <a:ext cx="2734056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States uncertainty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4974336"/>
            <a:ext cx="2560320" cy="475488"/>
          </a:xfrm>
          <a:prstGeom prst="rect">
            <a:avLst/>
          </a:prstGeom>
          <a:solidFill>
            <a:srgbClr val="F7F9FC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" y="5010912"/>
            <a:ext cx="2414015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Aptos"/>
              </a:rPr>
              <a:t>Simulate multi-expert deliberation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59" y="4974336"/>
            <a:ext cx="2560320" cy="475488"/>
          </a:xfrm>
          <a:prstGeom prst="rect">
            <a:avLst/>
          </a:prstGeom>
          <a:solidFill>
            <a:srgbClr val="F7F9FC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82111" y="5010912"/>
            <a:ext cx="2414015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0">
                <a:solidFill>
                  <a:srgbClr val="5E6B82"/>
                </a:solidFill>
                <a:latin typeface="Aptos"/>
              </a:rPr>
              <a:t>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14999" y="4974336"/>
            <a:ext cx="2377440" cy="475488"/>
          </a:xfrm>
          <a:prstGeom prst="rect">
            <a:avLst/>
          </a:prstGeom>
          <a:solidFill>
            <a:srgbClr val="F7F9FC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788151" y="5010912"/>
            <a:ext cx="2231136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0">
                <a:solidFill>
                  <a:srgbClr val="5E6B82"/>
                </a:solidFill>
                <a:latin typeface="Aptos"/>
              </a:rPr>
              <a:t>Generic agents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38159" y="4974336"/>
            <a:ext cx="2880360" cy="475488"/>
          </a:xfrm>
          <a:prstGeom prst="rect">
            <a:avLst/>
          </a:prstGeom>
          <a:solidFill>
            <a:srgbClr val="F7F9FC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11311" y="5010912"/>
            <a:ext cx="2734056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Trusted roster + citations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468112"/>
            <a:ext cx="256032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6072" y="5504688"/>
            <a:ext cx="2414015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Aptos"/>
              </a:rPr>
              <a:t>Produce accountable action plan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08959" y="5468112"/>
            <a:ext cx="256032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82111" y="5504688"/>
            <a:ext cx="2414015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0">
                <a:solidFill>
                  <a:srgbClr val="5E6B82"/>
                </a:solidFill>
                <a:latin typeface="Aptos"/>
              </a:rPr>
              <a:t>No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714999" y="5468112"/>
            <a:ext cx="237744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88151" y="5504688"/>
            <a:ext cx="2231136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0">
                <a:solidFill>
                  <a:srgbClr val="5E6B82"/>
                </a:solidFill>
                <a:latin typeface="Aptos"/>
              </a:rPr>
              <a:t>Possible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38159" y="5468112"/>
            <a:ext cx="2880360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11311" y="5504688"/>
            <a:ext cx="2734056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Owner, dissent, risk, evidence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4360" y="6519672"/>
            <a:ext cx="4114800" cy="1645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800" b="1">
                <a:solidFill>
                  <a:srgbClr val="5E6B82"/>
                </a:solidFill>
                <a:latin typeface="Aptos"/>
              </a:rPr>
              <a:t>EXPERTTWIN · HACKATHON DEMO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r"/>
            <a:r>
              <a:rPr sz="900" b="1">
                <a:solidFill>
                  <a:srgbClr val="5E6B82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Aptos"/>
              </a:rPr>
              <a:t>HACKATHON OUTCOME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A working Azure-hosted Digital Employee prototype.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52728"/>
            <a:ext cx="10698480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B9D8F4"/>
                </a:solidFill>
                <a:latin typeface="Aptos"/>
              </a:rPr>
              <a:t>The demonstration is live, evidence-grounded, and designed around transparent trust behavior.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65960"/>
            <a:ext cx="2606040" cy="1508760"/>
          </a:xfrm>
          <a:prstGeom prst="roundRect">
            <a:avLst/>
          </a:prstGeom>
          <a:solidFill>
            <a:srgbClr val="142C4D"/>
          </a:solidFill>
          <a:ln w="15240">
            <a:solidFill>
              <a:srgbClr val="285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48840"/>
            <a:ext cx="2240280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3000" b="1">
                <a:solidFill>
                  <a:srgbClr val="65B5F6"/>
                </a:solidFill>
                <a:latin typeface="Aptos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779776"/>
            <a:ext cx="2240280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authorized AI Clones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11296" y="1965960"/>
            <a:ext cx="2606040" cy="1508760"/>
          </a:xfrm>
          <a:prstGeom prst="roundRect">
            <a:avLst/>
          </a:prstGeom>
          <a:solidFill>
            <a:srgbClr val="142C4D"/>
          </a:solidFill>
          <a:ln w="15240">
            <a:solidFill>
              <a:srgbClr val="285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7" y="2148840"/>
            <a:ext cx="2240280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3000" b="1">
                <a:solidFill>
                  <a:srgbClr val="65B5F6"/>
                </a:solidFill>
                <a:latin typeface="Aptos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5887" y="2779776"/>
            <a:ext cx="2240280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mixed evidence formats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4224" y="1965960"/>
            <a:ext cx="2606040" cy="1508760"/>
          </a:xfrm>
          <a:prstGeom prst="roundRect">
            <a:avLst/>
          </a:prstGeom>
          <a:solidFill>
            <a:srgbClr val="142C4D"/>
          </a:solidFill>
          <a:ln w="15240">
            <a:solidFill>
              <a:srgbClr val="285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2148840"/>
            <a:ext cx="2240280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3000" b="1">
                <a:solidFill>
                  <a:srgbClr val="65B5F6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779776"/>
            <a:ext cx="2240280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manager-led War Room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17152" y="1965960"/>
            <a:ext cx="2606040" cy="1508760"/>
          </a:xfrm>
          <a:prstGeom prst="roundRect">
            <a:avLst/>
          </a:prstGeom>
          <a:solidFill>
            <a:srgbClr val="142C4D"/>
          </a:solidFill>
          <a:ln w="15240">
            <a:solidFill>
              <a:srgbClr val="285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81744" y="2148840"/>
            <a:ext cx="2240280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3000" b="1">
                <a:solidFill>
                  <a:srgbClr val="65B5F6"/>
                </a:solidFill>
                <a:latin typeface="Aptos"/>
              </a:rPr>
              <a:t>0–1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81744" y="2779776"/>
            <a:ext cx="2240280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Container App replicas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069080"/>
            <a:ext cx="1097280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65B5F6"/>
                </a:solidFill>
                <a:latin typeface="Aptos"/>
              </a:rPr>
              <a:t>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407408"/>
            <a:ext cx="7315200" cy="1600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 Individual cited guidance with evidence-strength and uncertainty signals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 Eleven-person War Room with challenges, dissent, risks, and owned actions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 Managed-identity Azure OpenAI access—no API key in the image or infrastructure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 Scale-to-zero hosting with an estimated fixed infrastructure cost of about $5/month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4069080"/>
            <a:ext cx="3063240" cy="1627632"/>
          </a:xfrm>
          <a:prstGeom prst="roundRect">
            <a:avLst/>
          </a:prstGeom>
          <a:solidFill>
            <a:srgbClr val="0D3858"/>
          </a:solidFill>
          <a:ln w="15240">
            <a:solidFill>
              <a:srgbClr val="278E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2520" y="4315968"/>
            <a:ext cx="64008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8DE1D6"/>
                </a:solidFill>
                <a:latin typeface="Aptos"/>
              </a:rPr>
              <a:t>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4681728"/>
            <a:ext cx="2468880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Azure Container Apps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5074920"/>
            <a:ext cx="242316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200" b="0">
                <a:solidFill>
                  <a:srgbClr val="B9D8F4"/>
                </a:solidFill>
                <a:latin typeface="Aptos"/>
              </a:rPr>
              <a:t>East US · public hackathon endpoint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519672"/>
            <a:ext cx="4114800" cy="1645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800" b="1">
                <a:solidFill>
                  <a:srgbClr val="5E6B82"/>
                </a:solidFill>
                <a:latin typeface="Aptos"/>
              </a:rPr>
              <a:t>EXPERTTWIN · HACKATHON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r"/>
            <a:r>
              <a:rPr sz="900" b="1">
                <a:solidFill>
                  <a:srgbClr val="5E6B82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Aptos"/>
              </a:rPr>
              <a:t>TRUST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Aptos"/>
              </a:rPr>
              <a:t>The AI Clone must know what it knows—and what it does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52728"/>
            <a:ext cx="10698480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ExpertTwin is designed to avoid turning plausible language into false employee attribution.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5349240" cy="1298448"/>
          </a:xfrm>
          <a:prstGeom prst="roundRect">
            <a:avLst/>
          </a:prstGeom>
          <a:solidFill>
            <a:srgbClr val="F8FAFE"/>
          </a:solidFill>
          <a:ln w="1524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1371600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500" b="1">
                <a:solidFill>
                  <a:srgbClr val="0078D4"/>
                </a:solidFill>
                <a:latin typeface="Aptos"/>
              </a:rPr>
              <a:t>Attribution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67712" y="2011679"/>
            <a:ext cx="3364992" cy="8229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300" b="0">
                <a:solidFill>
                  <a:srgbClr val="17233C"/>
                </a:solidFill>
                <a:latin typeface="Aptos"/>
              </a:rPr>
              <a:t>Only explicitly attributed evidence shapes the selected expert’s fingerprint.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874519"/>
            <a:ext cx="5349240" cy="1298448"/>
          </a:xfrm>
          <a:prstGeom prst="roundRect">
            <a:avLst/>
          </a:prstGeom>
          <a:solidFill>
            <a:srgbClr val="F8FAFE"/>
          </a:solidFill>
          <a:ln w="15240">
            <a:solidFill>
              <a:srgbClr val="0F9D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2057400"/>
            <a:ext cx="1371600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500" b="1">
                <a:solidFill>
                  <a:srgbClr val="0F9D8B"/>
                </a:solidFill>
                <a:latin typeface="Aptos"/>
              </a:rPr>
              <a:t>Citations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2011679"/>
            <a:ext cx="3364992" cy="8229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300" b="0">
                <a:solidFill>
                  <a:srgbClr val="17233C"/>
                </a:solidFill>
                <a:latin typeface="Aptos"/>
              </a:rPr>
              <a:t>Returned citation IDs must come from the evidence retrieved for that speaker.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0711"/>
            <a:ext cx="5349240" cy="1298448"/>
          </a:xfrm>
          <a:prstGeom prst="roundRect">
            <a:avLst/>
          </a:prstGeom>
          <a:solidFill>
            <a:srgbClr val="F8FAFE"/>
          </a:solidFill>
          <a:ln w="15240">
            <a:solidFill>
              <a:srgbClr val="F4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93591"/>
            <a:ext cx="1371600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500" b="1">
                <a:solidFill>
                  <a:srgbClr val="F4A623"/>
                </a:solidFill>
                <a:latin typeface="Aptos"/>
              </a:rPr>
              <a:t>Uncertainty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3547871"/>
            <a:ext cx="3364992" cy="8229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300" b="0">
                <a:solidFill>
                  <a:srgbClr val="17233C"/>
                </a:solidFill>
                <a:latin typeface="Aptos"/>
              </a:rPr>
              <a:t>Missing comparative evidence produces assumptions and evaluation gates—not invented preferences.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3410711"/>
            <a:ext cx="5349240" cy="1298448"/>
          </a:xfrm>
          <a:prstGeom prst="roundRect">
            <a:avLst/>
          </a:prstGeom>
          <a:solidFill>
            <a:srgbClr val="F8FAFE"/>
          </a:solidFill>
          <a:ln w="15240">
            <a:solidFill>
              <a:srgbClr val="5B5B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3593591"/>
            <a:ext cx="1371600" cy="365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500" b="1">
                <a:solidFill>
                  <a:srgbClr val="5B5BD6"/>
                </a:solidFill>
                <a:latin typeface="Aptos"/>
              </a:rPr>
              <a:t>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27264" y="3547871"/>
            <a:ext cx="3364992" cy="8229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300" b="0">
                <a:solidFill>
                  <a:srgbClr val="17233C"/>
                </a:solidFill>
                <a:latin typeface="Aptos"/>
              </a:rPr>
              <a:t>The War Room accepts only the authorized roster and trusted role mapping.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74920"/>
            <a:ext cx="10972800" cy="868680"/>
          </a:xfrm>
          <a:prstGeom prst="roundRect">
            <a:avLst/>
          </a:prstGeom>
          <a:solidFill>
            <a:srgbClr val="FFF4F4"/>
          </a:solidFill>
          <a:ln w="15240">
            <a:solidFill>
              <a:srgbClr val="D64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285232"/>
            <a:ext cx="169164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D64550"/>
                </a:solidFill>
                <a:latin typeface="Aptos"/>
              </a:rPr>
              <a:t>HACKATHON 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87168" y="5193792"/>
            <a:ext cx="8732520" cy="4572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Aptos"/>
              </a:rPr>
              <a:t>Synthetic evidence only · public demo access · ephemeral uploads · not a claim about real employee behavior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19672"/>
            <a:ext cx="4114800" cy="1645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800" b="1">
                <a:solidFill>
                  <a:srgbClr val="5E6B82"/>
                </a:solidFill>
                <a:latin typeface="Aptos"/>
              </a:rPr>
              <a:t>EXPERTTWIN · HACKATHON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r"/>
            <a:r>
              <a:rPr sz="900" b="1">
                <a:solidFill>
                  <a:srgbClr val="5E6B82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Aptos"/>
              </a:rPr>
              <a:t>FROM HACKATHON TO ENTERPRISE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Aptos"/>
              </a:rPr>
              <a:t>A focused path to trusted institutional memory.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52728"/>
            <a:ext cx="10698480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The prototype proves the interaction model; productionization strengthens data, identity, governance, and evaluation.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5204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212848"/>
            <a:ext cx="804672" cy="347472"/>
          </a:xfrm>
          <a:prstGeom prst="roundRect">
            <a:avLst/>
          </a:prstGeom>
          <a:solidFill>
            <a:srgbClr val="F1F6FC"/>
          </a:solidFill>
          <a:ln w="1524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231136"/>
            <a:ext cx="658368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000" b="1">
                <a:solidFill>
                  <a:srgbClr val="0078D4"/>
                </a:solidFill>
                <a:latin typeface="Aptos"/>
              </a:rPr>
              <a:t>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61488"/>
            <a:ext cx="297180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Azure-hosted MVP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00400"/>
            <a:ext cx="2926080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Synthetic corpus · cited chat · 11-person War Room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965960"/>
            <a:ext cx="35204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9D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99432" y="2212848"/>
            <a:ext cx="804672" cy="347472"/>
          </a:xfrm>
          <a:prstGeom prst="roundRect">
            <a:avLst/>
          </a:prstGeom>
          <a:solidFill>
            <a:srgbClr val="F1F6FC"/>
          </a:solidFill>
          <a:ln w="15240">
            <a:solidFill>
              <a:srgbClr val="0F9D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2231136"/>
            <a:ext cx="658368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000" b="1">
                <a:solidFill>
                  <a:srgbClr val="0F9D8B"/>
                </a:solidFill>
                <a:latin typeface="Aptos"/>
              </a:rPr>
              <a:t>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761488"/>
            <a:ext cx="297180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Enterprise-ready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3200400"/>
            <a:ext cx="2926080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Entra authentication · durable storage · approved connectors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1965960"/>
            <a:ext cx="35204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B5B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30183" y="2212848"/>
            <a:ext cx="804672" cy="347472"/>
          </a:xfrm>
          <a:prstGeom prst="roundRect">
            <a:avLst/>
          </a:prstGeom>
          <a:solidFill>
            <a:srgbClr val="F1F6FC"/>
          </a:solidFill>
          <a:ln w="15240">
            <a:solidFill>
              <a:srgbClr val="5B5B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3336" y="2231136"/>
            <a:ext cx="658368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1000" b="1">
                <a:solidFill>
                  <a:srgbClr val="5B5BD6"/>
                </a:solidFill>
                <a:latin typeface="Aptos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3" y="2761488"/>
            <a:ext cx="297180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Knowledge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3" y="3200400"/>
            <a:ext cx="2926080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1400" b="0">
                <a:solidFill>
                  <a:srgbClr val="5E6B82"/>
                </a:solidFill>
                <a:latin typeface="Aptos"/>
              </a:rPr>
              <a:t>Azure AI Search · evaluations · consent and retention controls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572000"/>
            <a:ext cx="10972800" cy="1143000"/>
          </a:xfrm>
          <a:prstGeom prst="roundRect">
            <a:avLst/>
          </a:prstGeom>
          <a:solidFill>
            <a:srgbClr val="0B1F3A"/>
          </a:solidFill>
          <a:ln w="1524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773168"/>
            <a:ext cx="10332720" cy="5943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tos"/>
              </a:rPr>
              <a:t>ExpertTwin turns the history of engineering decisions into an always-available mentor—without hiding the evidence.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19672"/>
            <a:ext cx="4114800" cy="1645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l"/>
            <a:r>
              <a:rPr sz="800" b="1">
                <a:solidFill>
                  <a:srgbClr val="5E6B82"/>
                </a:solidFill>
                <a:latin typeface="Aptos"/>
              </a:rPr>
              <a:t>EXPERTTWIN · HACKATHON DEMO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01400" y="6492240"/>
            <a:ext cx="41148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normAutofit/>
          </a:bodyPr>
          <a:lstStyle/>
          <a:p>
            <a:pPr algn="r"/>
            <a:r>
              <a:rPr sz="900" b="1">
                <a:solidFill>
                  <a:srgbClr val="5E6B82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